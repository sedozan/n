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work in one sentence: anomaly detection already shows us what stands out; PIE adds what the policy allows, with the source, so an unusual pattern becomes a focused, policy-grounded question. A flag stays a lead for review; a person decides. Today that means the CMS federal edits, the AHCCCS billing manual and three AHCCCS rule tables; the next sources are the medical policy manual, the Behavioral Health Services Guide and the prior-authorization guidelines. Every rule is reviewed, tied to its source page and version, and kept in one place. That one source serves three groups: claim review (which paid lines may deserve a closer look, and which paid dollars the rules cover), investigators (a flag they can explain with the exact policy words), and policy owners (where sources differ, and what changed when policy is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our own work, not with the policy. The anomaly models are good at finding what stands out; what they cannot do is tell us whether an unusual pattern is allowed. Two problems, one cause. First, an investigator confirming a single rule may need the billing manual, the medical policy manual, the behavioral health guide, the AHCCCS code tables and the federal edits. Replace the placeholder with a real figure or a real case from the investigators; do not estimate. Second, our anomaly-detection summaries can say a provider is unusual next to peers, but not what AHCCCS allows, because the payer's rules were never connected to them. The 90791 line is illustrative; the daily limit of 1 per day is real (AHCCCS daily limits table). Both problems need the same thing: the rule, with its source,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credit: AHCCCS maintains each of these sources carefully, and its own payment edits apply when claims are processed. The point is not that any one source is weak; it is that the rules for a single claim are spread across about 20 of them (our count, grouping each manual or table family as one). The FFS billing manual itself sends readers to the medical policy manual for covered services and limits, and to the Behavioral Health Services Guide for behavioral health billing limits. Say the risk carefully. GAO: "Medicare and Medicaid are complex and large programs... susceptible to improper payments, as well as potential mismanagement and fraud, waste, and abuse" (GAO-24-107487). MACPAC (April 2024): "Providers have said that the complexity of the billing process and the length [of] the provider manual can lead to errors." The honest claim: rules spread across many places are harder to apply consistently and harder to check, which leaves room for error and abuse. Do not say it causes fraud: CMS attributes most improper payments to insufficient documentation, which it says is generally not fraud. SAMHSA is not a payment authority; it matters here because methadone programs must hold its certification. Today we load 5 of these sources; the next three (medical policy manual, Behavioral Health Services Guide, PA guidelines) are the ones the billing manual itself points to. Do not read "5 of 20" as coverage: what matters is how many paid dollars and applicable rules are covered, which the code lookup shows in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The work is one knowledge base: every rule from the federal edits, the billing manual and the AHCCCS tables, written once, with the exact words, page, version, dates and approver. Everything else is a use of that one source, and each use is labelled honestly: live, partly built, or next. The rest of the deck takes them one at a time. If you want the anchoring line, say it here: we didn't set out to build another detection model; we set out to make policy usable 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every rule enters the knowledge base. Once it is there, the same entry serves every use: the check on paid claims, the code lookup, the explanation an investigator reads, and later the policy Q&amp;A. AI reads the page and proposes a rule. Automatic checks confirm the codes, numbers and dates really appear in the source. A person signs the rule, tied to the exact version of the document they read. Only then does it become a check over paid claims, and the check itself contains no AI. Dates matter: the daily cap applies from 2023-04-01 and the monthly cap and same-day rule from 2024-07-17, so older claims are never judged by newer words. The same section also says the three codes are not billed together on the same day for the same member; that is three more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proposals needed correcting, and that is the point of having a person in the loop. The number to remember is 24: draft checks that would have flagged lawful claims, differ from the newer AHCCCS Same Day table (held until AHCCCS confirms which applies; these are the same 13 shown on the "where sources differ" slide), or need data not in the claims data we receive. They were caught on paper, not in front of a provider. Be upfront about who signed: the review notes were prepared with AI help and signed by the project lead. That is not an AHCCCS expert signature, and getting one is the first ask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claim checks, and what the investigator sees. This is for Audie. The example is illustrative; before the meeting, replace it with a real flagged line from the latest run, member masked. Because the policy allows more units with prior authorization, the engine cannot call it a violation. It labels it as a question: check for an authorization. That is what makes a flag defensible across the table: you can read the provider the exact sentence, page and version that applied on the date of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use: code lookup. Type in any procedure code and see every rule in the knowledge base that applies to it, from every source, and how its paid dollars split by which rules cover them. Dollars no rule covers do not mean wrong or unreviewed: AHCCCS's own edits still apply when claims are paid. It means no rule in the knowledge base covers those dollars yet, which tells us where adding a source or a rule would help most. For 90791, the AHCCCS daily limits table caps it at 1 per day, but that rule does not run until the table's reading is signed. About 88 thousand dollars fall outside the federal edits because the billing provider types are in CMS's optional categories; PIE leaves those off by default until AHCCCS confirms whether it applies them. The same lookup works for any code. Before presenting, replace the placeholder with the program-wide number from the coverage report, or drop the strip. Note that "a federal edit file applies" means the line is in scope for federal checks; confirm from the run log that federal checks actually ran before claiming any federal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use: where sources differ. Be clear on status: these examples were found during review and are stored, but the single list for AHCCCS (both sources quoted, the nature of the difference, a suggested path) is not built yet. For H0035, Chapter 19 lists provider types B2, B5, 02 and 71; the B2 matrix lists 02, 71, B5 and B6, and the Behavioral Health Services Guide (effective 10/01/2026) agrees with the matrix: B5, B6, 02 and 71. Comparing AHCCCS rules with federal edits is partly built: we can list where they overlap, but not yet label which is stricter. Present it as a service to the policy team, not a criticism: any large body of policy maintained over years by different teams will have a few places that read differently, and they are hard to spot one document at a time. Once every rule sits in one table, they become visible. There may be good reasons behind each one; that is for AHCCCS to confirm. For the same-day pairs, most of the differences come from Same Day table cells that changed on 10/1/2026, so the chapter may simply not have been updated yet. These are the same 13 draft checks held back on the review slide. Chapter 19 bars same-day pairs that the October 2026 Same Day Disallow table allows. Chapter 19 and the B2 matrix list different provider types for methadone and for partial hospitalization. Chapter 7 and Chapter 10 name different dental claim forms. We do not resolve these ourselves; the affected rules are held back and labelled until AHCCCS policy owners decide. Source note: 13 is the count from the latest all-chapter review (an earlier Chapter 19 pass counted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uses are next, not live, and they are where AI shows up for the user. Both draw only on the knowledge base. Policy Q&amp;A answers a plain-English question with the source, page and dates, and says so when policy is unclear instead of guessing. Anomaly explanations connect to the existing anomaly-detection summaries: today they say a provider is unusual next to peers; with the knowledge base they can add the rule that applies, with its source. The guardrail is the same for both: no signed rule, no policy claim. Policy update review, the fourth use, is on the handover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Erin. Three lanes, honestly labelled, using the same names as the knowledge base slide. Live: the knowledge base, 42 claim checks, code lookup, and policy update review. Ready: the three AHCCCS tables were read cell by cell with no AI and hold 15,708 rules, but none run until the reading of each table is signed; the federal edits wait on sign-off of which edit file applies to which provider type. Stress that these are rules, not findings. Next: one list of where sources differ, measuring accuracy with investigators, recovering missed rules, and the two AI-facing uses (policy Q&amp;A and anomaly explanations), which only ever quote signed rules. Before presenting, confirm from the run log whether federal checks ran in the latest run; if they did, move them to the live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Tim and anyone who will own this. Five tables are what people use day to day; the rest exist so the team running PIE can rebuild, audit and trace. Table names in Databricks (catalog main, schema policy_kb): knowledge base = policy_rules; findings = policy_findings; coverage = policy_coverage and policy_gap; source differences = policy_ahcccs_conflicts and policy_rule_overlaps today, to become one list; policy updates = policy_change_log, with policy_review_log for approvals. Supporting: policy_detector_runs, policy_build_log, policy_detectors and policy_batch_detectors (stored checks with fingerprints), policy_query_validation, policy_ncci_ptp_edits and policy_ncci_mue_limits, and the _history tables. Confirm names against the current build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anyone asks. We have not measured how many flags are right; an investigator sample fixes that. We know this run missed at least 173 rules the manual states, mostly list sentences in Chapter 19; an extractor fix and a re-run recover most of them. Several AHCCCS sources are not loaded yet, including Arizona's state-specific federal-edit settings, so federal results are leads, not final. And some rules cannot run until the claims data we receive includes diagnosis, revenue code, service end date or member program; AHCCCS holds these fields, they are simply not in the data we receive yet. Federal unit-per-line limits are loaded only from April 2026, so earlier claims are not checked for them yet. Findings are candidates for review, never confirmed overpayments.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Tim. The loop at the top is the policy update review use from the knowledge base slide. After we leave, the work is mostly review on a calendar: federal edits every quarter, AHCCCS tables when AHCCCS issues a new version, and the manual when a chapter is revised. When something changes, PIE does not guess. A changed document sends its rules back for re-signing, an edited check is refused, and a rule that needs data we don't receive stays on record without being checked. Be honest that it is not fully automatic: someone still runs the refresh notebooks each quarter and works the review queue. Estimate that effort before quoting a number. The open item is a named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names, not money. One: an AHCCCS policy reviewer, so the rules carry an expert signature and the 15,708 table rules can start running. Two: a small blind investigator sample, so we can report useful flags, false positives and time saved per case (which answers the time question on slide 2). Three: an owner after handover. The list of where sources differ goes to the AHCCCS policy owners, short and sourced. Fill in the sample size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only if someone asks how we know a check is right. The independent recomputation is the strongest proof: a second program built only from the written definitions, never from the real checks, produces the same flags on every test claim. Be precise about the boundary: this proves the check does what the rule says. It does not prove the rule is the right reading of the policy; that is the reviewer's job, and it does not prove we found every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AHCCCS tables judge claims only from their version date until AHCCCS's earlier versions are loaded. Federal unit-per-line limits are loaded from the second quarter of 2026. Claims window for the current build: 2024-10-01 to 2026-09-25.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850900"/>
          </a:xfrm>
          <a:prstGeom prst="rect">
            <a:avLst/>
          </a:prstGeom>
          <a:noFill/>
          <a:ln/>
        </p:spPr>
        <p:txBody>
          <a:bodyPr wrap="square" lIns="0" tIns="0" rIns="0" bIns="0" rtlCol="0" anchor="t"/>
          <a:lstStyle>
            <a:lvl1pPr algn="l" indent="0" marL="0">
              <a:lnSpc>
                <a:spcPct val="115000"/>
              </a:lnSpc>
              <a:buNone/>
              <a:defRPr lang="en-US" sz="3000" dirty="0">
                <a:solidFill>
                  <a:srgbClr val="1324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279650"/>
            <a:ext cx="10566400" cy="3765550"/>
          </a:xfrm>
          <a:prstGeom prst="rect">
            <a:avLst/>
          </a:prstGeom>
          <a:noFill/>
          <a:ln/>
        </p:spPr>
        <p:txBody>
          <a:bodyPr wrap="square" lIns="0" tIns="0" rIns="0" bIns="0" rtlCol="0" anchor="t"/>
          <a:lstStyle>
            <a:lvl1pPr algn="l" indent="0" marL="0">
              <a:lnSpc>
                <a:spcPct val="140000"/>
              </a:lnSpc>
              <a:buNone/>
              <a:defRPr lang="en-US" sz="1600" dirty="0">
                <a:solidFill>
                  <a:srgbClr val="1324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3950"/>
            <a:ext cx="10566400" cy="850900"/>
          </a:xfrm>
          <a:prstGeom prst="rect">
            <a:avLst/>
          </a:prstGeom>
          <a:noFill/>
          <a:ln/>
        </p:spPr>
        <p:txBody>
          <a:bodyPr wrap="square" lIns="0" tIns="0" rIns="0" bIns="0" rtlCol="0" anchor="t"/>
          <a:lstStyle>
            <a:lvl1pPr algn="l" indent="0" marL="0">
              <a:lnSpc>
                <a:spcPct val="115000"/>
              </a:lnSpc>
              <a:buNone/>
              <a:defRPr lang="en-US" sz="3000" dirty="0">
                <a:solidFill>
                  <a:srgbClr val="1324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279650"/>
            <a:ext cx="10566400" cy="3765550"/>
          </a:xfrm>
          <a:prstGeom prst="rect">
            <a:avLst/>
          </a:prstGeom>
          <a:noFill/>
          <a:ln/>
        </p:spPr>
        <p:txBody>
          <a:bodyPr wrap="square" lIns="0" tIns="0" rIns="0" bIns="0" rtlCol="0" anchor="t"/>
          <a:lstStyle>
            <a:lvl1pPr algn="l" indent="0" marL="0">
              <a:lnSpc>
                <a:spcPct val="140000"/>
              </a:lnSpc>
              <a:buNone/>
              <a:defRPr lang="en-US" sz="1600" dirty="0">
                <a:solidFill>
                  <a:srgbClr val="1324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slideLayout" Target="../slideLayouts/slideLayout2.xml"/><Relationship Id="rId2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43A"/>
        </a:solidFill>
      </p:bgPr>
    </p:bg>
    <p:spTree>
      <p:nvGrpSpPr>
        <p:cNvPr id="1" name=""/>
        <p:cNvGrpSpPr/>
        <p:nvPr/>
      </p:nvGrpSpPr>
      <p:grpSpPr>
        <a:xfrm>
          <a:off x="0" y="0"/>
          <a:ext cx="0" cy="0"/>
          <a:chOff x="0" y="0"/>
          <a:chExt cx="0" cy="0"/>
        </a:xfrm>
      </p:grpSpPr>
      <p:sp>
        <p:nvSpPr>
          <p:cNvPr id="2" name="Text 0"/>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IBM Plex Sans" pitchFamily="34" charset="0"/>
                <a:ea typeface="IBM Plex Sans" pitchFamily="34" charset="-122"/>
                <a:cs typeface="IBM Plex Sans" pitchFamily="34" charset="-120"/>
              </a:rPr>
              <a:t>NTT DATA for AHCCCS · October 2026</a:t>
            </a:r>
            <a:endParaRPr lang="en-US" sz="1200" dirty="0"/>
          </a:p>
        </p:txBody>
      </p:sp>
      <p:sp>
        <p:nvSpPr>
          <p:cNvPr id="3" name="Text 1"/>
          <p:cNvSpPr/>
          <p:nvPr/>
        </p:nvSpPr>
        <p:spPr>
          <a:xfrm>
            <a:off x="812800" y="18669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39A6F"/>
                </a:solidFill>
                <a:latin typeface="IBM Plex Sans" pitchFamily="34" charset="0"/>
                <a:ea typeface="IBM Plex Sans" pitchFamily="34" charset="-122"/>
                <a:cs typeface="IBM Plex Sans" pitchFamily="34" charset="-120"/>
              </a:rPr>
              <a:t>POLICY INTELLIGENCE ENGINE (PIE)</a:t>
            </a:r>
            <a:endParaRPr lang="en-US" sz="1400" dirty="0"/>
          </a:p>
        </p:txBody>
      </p:sp>
      <p:sp>
        <p:nvSpPr>
          <p:cNvPr id="4" name="Text 2"/>
          <p:cNvSpPr/>
          <p:nvPr>
            <p:ph type="title"/>
          </p:nvPr>
        </p:nvSpPr>
        <p:spPr>
          <a:xfrm>
            <a:off x="812800" y="2303264"/>
            <a:ext cx="10883392" cy="1193800"/>
          </a:xfrm>
          <a:prstGeom prst="rect">
            <a:avLst/>
          </a:prstGeom>
          <a:noFill/>
          <a:ln/>
        </p:spPr>
        <p:txBody>
          <a:bodyPr wrap="square" lIns="0" tIns="0" rIns="0" bIns="0" rtlCol="0" anchor="t">
            <a:normAutofit/>
          </a:bodyPr>
          <a:lstStyle/>
          <a:p>
            <a:pPr algn="l" indent="0" marL="0">
              <a:lnSpc>
                <a:spcPts val="4620"/>
              </a:lnSpc>
              <a:buNone/>
            </a:pPr>
            <a:r>
              <a:rPr lang="en-US" sz="4200" b="0" i="0" dirty="0">
                <a:solidFill>
                  <a:srgbClr val="F5F3EE"/>
                </a:solidFill>
                <a:latin typeface="Source Serif 4" pitchFamily="18" charset="0"/>
                <a:ea typeface="Source Serif 4" pitchFamily="18" charset="-122"/>
                <a:cs typeface="Source Serif 4" pitchFamily="18" charset="-120"/>
              </a:rPr>
              <a:t>Turning complex Medicaid policies into actionable intelligence</a:t>
            </a:r>
            <a:endParaRPr lang="en-US" sz="4200" dirty="0"/>
          </a:p>
          <a:p>
            <a:pPr algn="l" indent="0" marL="0">
              <a:lnSpc>
                <a:spcPts val="4620"/>
              </a:lnSpc>
              <a:buNone/>
            </a:pPr>
            <a:r>
              <a:rPr lang="en-US" sz="4200" b="0" i="0" dirty="0">
                <a:solidFill>
                  <a:srgbClr val="F5F3EE"/>
                </a:solidFill>
                <a:latin typeface="Source Serif 4" pitchFamily="18" charset="0"/>
                <a:ea typeface="Source Serif 4" pitchFamily="18" charset="-122"/>
                <a:cs typeface="Source Serif 4" pitchFamily="18" charset="-120"/>
              </a:rPr>
              <a:t/>
            </a:r>
            <a:endParaRPr lang="en-US" sz="4200" dirty="0"/>
          </a:p>
        </p:txBody>
      </p:sp>
      <p:sp>
        <p:nvSpPr>
          <p:cNvPr id="5" name="Text 3"/>
          <p:cNvSpPr/>
          <p:nvPr/>
        </p:nvSpPr>
        <p:spPr>
          <a:xfrm>
            <a:off x="812800" y="4152900"/>
            <a:ext cx="8633460" cy="6604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5E0"/>
                </a:solidFill>
                <a:latin typeface="IBM Plex Sans" pitchFamily="34" charset="0"/>
                <a:ea typeface="IBM Plex Sans" pitchFamily="34" charset="-122"/>
                <a:cs typeface="IBM Plex Sans" pitchFamily="34" charset="-120"/>
              </a:rPr>
              <a:t>Connecting federal and AHCCCS requirements in a traceable knowledge base to support claim review, investigations, and policy maintenance.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WHY THIS MATTERS</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We can identify unusual billing. Understanding whether it is appropriate requires policy context.</a:t>
            </a:r>
            <a:endParaRPr lang="en-US" sz="3000" dirty="0"/>
          </a:p>
        </p:txBody>
      </p:sp>
      <p:sp>
        <p:nvSpPr>
          <p:cNvPr id="4" name="Shape 2"/>
          <p:cNvSpPr/>
          <p:nvPr/>
        </p:nvSpPr>
        <p:spPr>
          <a:xfrm>
            <a:off x="815975" y="2232025"/>
            <a:ext cx="5181600" cy="2876550"/>
          </a:xfrm>
          <a:prstGeom prst="roundRect">
            <a:avLst>
              <a:gd name="adj" fmla="val 3422"/>
            </a:avLst>
          </a:prstGeom>
          <a:solidFill>
            <a:srgbClr val="FCFBF8"/>
          </a:solidFill>
          <a:ln w="6350">
            <a:solidFill>
              <a:srgbClr val="DAD6CC"/>
            </a:solidFill>
            <a:prstDash val="solid"/>
          </a:ln>
        </p:spPr>
      </p:sp>
      <p:sp>
        <p:nvSpPr>
          <p:cNvPr id="5" name="Text 3"/>
          <p:cNvSpPr/>
          <p:nvPr/>
        </p:nvSpPr>
        <p:spPr>
          <a:xfrm>
            <a:off x="1047750" y="2463800"/>
            <a:ext cx="48595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INVESTIGATOR TODAY</a:t>
            </a:r>
            <a:endParaRPr lang="en-US" sz="1200" dirty="0"/>
          </a:p>
        </p:txBody>
      </p:sp>
      <p:sp>
        <p:nvSpPr>
          <p:cNvPr id="6" name="Text 4"/>
          <p:cNvSpPr/>
          <p:nvPr/>
        </p:nvSpPr>
        <p:spPr>
          <a:xfrm>
            <a:off x="1047750" y="2787650"/>
            <a:ext cx="4859592"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43A"/>
                </a:solidFill>
                <a:latin typeface="IBM Plex Sans" pitchFamily="34" charset="0"/>
                <a:ea typeface="IBM Plex Sans" pitchFamily="34" charset="-122"/>
                <a:cs typeface="IBM Plex Sans" pitchFamily="34" charset="-120"/>
              </a:rPr>
              <a:t>Finding the applicable rule may require reviewing:</a:t>
            </a:r>
            <a:endParaRPr lang="en-US" sz="1700" dirty="0"/>
          </a:p>
        </p:txBody>
      </p:sp>
      <p:sp>
        <p:nvSpPr>
          <p:cNvPr id="7" name="Shape 5"/>
          <p:cNvSpPr/>
          <p:nvPr/>
        </p:nvSpPr>
        <p:spPr>
          <a:xfrm>
            <a:off x="1047750" y="3155950"/>
            <a:ext cx="1174452" cy="285750"/>
          </a:xfrm>
          <a:prstGeom prst="roundRect">
            <a:avLst>
              <a:gd name="adj" fmla="val 50000"/>
            </a:avLst>
          </a:prstGeom>
          <a:solidFill>
            <a:srgbClr val="E9E6DE"/>
          </a:solidFill>
          <a:ln/>
        </p:spPr>
      </p:sp>
      <p:sp>
        <p:nvSpPr>
          <p:cNvPr id="8" name="Text 6"/>
          <p:cNvSpPr/>
          <p:nvPr/>
        </p:nvSpPr>
        <p:spPr>
          <a:xfrm>
            <a:off x="1149350" y="3194050"/>
            <a:ext cx="102205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Billing manual</a:t>
            </a:r>
            <a:endParaRPr lang="en-US" sz="1200" dirty="0"/>
          </a:p>
        </p:txBody>
      </p:sp>
      <p:sp>
        <p:nvSpPr>
          <p:cNvPr id="9" name="Shape 7"/>
          <p:cNvSpPr/>
          <p:nvPr/>
        </p:nvSpPr>
        <p:spPr>
          <a:xfrm>
            <a:off x="2273002" y="3155950"/>
            <a:ext cx="1724918" cy="285750"/>
          </a:xfrm>
          <a:prstGeom prst="roundRect">
            <a:avLst>
              <a:gd name="adj" fmla="val 50000"/>
            </a:avLst>
          </a:prstGeom>
          <a:solidFill>
            <a:srgbClr val="E9E6DE"/>
          </a:solidFill>
          <a:ln/>
        </p:spPr>
      </p:sp>
      <p:sp>
        <p:nvSpPr>
          <p:cNvPr id="10" name="Text 8"/>
          <p:cNvSpPr/>
          <p:nvPr/>
        </p:nvSpPr>
        <p:spPr>
          <a:xfrm>
            <a:off x="2374602" y="3194050"/>
            <a:ext cx="157251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Medical policy manual</a:t>
            </a:r>
            <a:endParaRPr lang="en-US" sz="1200" dirty="0"/>
          </a:p>
        </p:txBody>
      </p:sp>
      <p:sp>
        <p:nvSpPr>
          <p:cNvPr id="11" name="Shape 9"/>
          <p:cNvSpPr/>
          <p:nvPr/>
        </p:nvSpPr>
        <p:spPr>
          <a:xfrm>
            <a:off x="1047750" y="3492500"/>
            <a:ext cx="1810643" cy="285750"/>
          </a:xfrm>
          <a:prstGeom prst="roundRect">
            <a:avLst>
              <a:gd name="adj" fmla="val 50000"/>
            </a:avLst>
          </a:prstGeom>
          <a:solidFill>
            <a:srgbClr val="E9E6DE"/>
          </a:solidFill>
          <a:ln/>
        </p:spPr>
      </p:sp>
      <p:sp>
        <p:nvSpPr>
          <p:cNvPr id="12" name="Text 10"/>
          <p:cNvSpPr/>
          <p:nvPr/>
        </p:nvSpPr>
        <p:spPr>
          <a:xfrm>
            <a:off x="1149350" y="3530600"/>
            <a:ext cx="165824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Behavioral health guide</a:t>
            </a:r>
            <a:endParaRPr lang="en-US" sz="1200" dirty="0"/>
          </a:p>
        </p:txBody>
      </p:sp>
      <p:sp>
        <p:nvSpPr>
          <p:cNvPr id="13" name="Shape 11"/>
          <p:cNvSpPr/>
          <p:nvPr/>
        </p:nvSpPr>
        <p:spPr>
          <a:xfrm>
            <a:off x="2909193" y="3492500"/>
            <a:ext cx="1013817" cy="285750"/>
          </a:xfrm>
          <a:prstGeom prst="roundRect">
            <a:avLst>
              <a:gd name="adj" fmla="val 50000"/>
            </a:avLst>
          </a:prstGeom>
          <a:solidFill>
            <a:srgbClr val="E9E6DE"/>
          </a:solidFill>
          <a:ln/>
        </p:spPr>
      </p:sp>
      <p:sp>
        <p:nvSpPr>
          <p:cNvPr id="14" name="Text 12"/>
          <p:cNvSpPr/>
          <p:nvPr/>
        </p:nvSpPr>
        <p:spPr>
          <a:xfrm>
            <a:off x="3010793" y="3530600"/>
            <a:ext cx="86141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Code tables</a:t>
            </a:r>
            <a:endParaRPr lang="en-US" sz="1200" dirty="0"/>
          </a:p>
        </p:txBody>
      </p:sp>
      <p:sp>
        <p:nvSpPr>
          <p:cNvPr id="15" name="Shape 13"/>
          <p:cNvSpPr/>
          <p:nvPr/>
        </p:nvSpPr>
        <p:spPr>
          <a:xfrm>
            <a:off x="3973810" y="3492500"/>
            <a:ext cx="1092398" cy="285750"/>
          </a:xfrm>
          <a:prstGeom prst="roundRect">
            <a:avLst>
              <a:gd name="adj" fmla="val 50000"/>
            </a:avLst>
          </a:prstGeom>
          <a:solidFill>
            <a:srgbClr val="E9E6DE"/>
          </a:solidFill>
          <a:ln/>
        </p:spPr>
      </p:sp>
      <p:sp>
        <p:nvSpPr>
          <p:cNvPr id="16" name="Text 14"/>
          <p:cNvSpPr/>
          <p:nvPr/>
        </p:nvSpPr>
        <p:spPr>
          <a:xfrm>
            <a:off x="4075410" y="3530600"/>
            <a:ext cx="93999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Federal edits</a:t>
            </a:r>
            <a:endParaRPr lang="en-US" sz="1200" dirty="0"/>
          </a:p>
        </p:txBody>
      </p:sp>
      <p:sp>
        <p:nvSpPr>
          <p:cNvPr id="17" name="Text 15"/>
          <p:cNvSpPr/>
          <p:nvPr/>
        </p:nvSpPr>
        <p:spPr>
          <a:xfrm>
            <a:off x="1047750" y="3892550"/>
            <a:ext cx="4859592"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7"/>
                </a:solidFill>
                <a:latin typeface="IBM Plex Sans" pitchFamily="34" charset="0"/>
                <a:ea typeface="IBM Plex Sans" pitchFamily="34" charset="-122"/>
                <a:cs typeface="IBM Plex Sans" pitchFamily="34" charset="-120"/>
              </a:rPr>
              <a:t>Then verify exceptions, authorizations, and effective dates.</a:t>
            </a:r>
            <a:endParaRPr lang="en-US" sz="1300" dirty="0"/>
          </a:p>
        </p:txBody>
      </p:sp>
      <p:sp>
        <p:nvSpPr>
          <p:cNvPr id="18" name="Text 16"/>
          <p:cNvSpPr/>
          <p:nvPr/>
        </p:nvSpPr>
        <p:spPr>
          <a:xfrm>
            <a:off x="1047750" y="4495800"/>
            <a:ext cx="3393777" cy="381000"/>
          </a:xfrm>
          <a:prstGeom prst="roundRect">
            <a:avLst>
              <a:gd name="adj" fmla="val 20000"/>
            </a:avLst>
          </a:prstGeom>
          <a:solidFill>
            <a:srgbClr val="F3E3C3"/>
          </a:solidFill>
          <a:ln/>
        </p:spPr>
        <p:txBody>
          <a:bodyPr wrap="none" lIns="0" tIns="0" rIns="0" bIns="0" rtlCol="0" anchor="ctr">
            <a:normAutofit/>
          </a:bodyPr>
          <a:lstStyle/>
          <a:p>
            <a:pPr algn="ctr" indent="0" marL="0">
              <a:lnSpc>
                <a:spcPts val="1820"/>
              </a:lnSpc>
              <a:buNone/>
            </a:pPr>
            <a:r>
              <a:rPr lang="en-US" sz="1300" b="1" dirty="0">
                <a:solidFill>
                  <a:srgbClr val="6B4A12"/>
                </a:solidFill>
                <a:latin typeface="IBM Plex Sans" pitchFamily="34" charset="0"/>
                <a:ea typeface="IBM Plex Sans" pitchFamily="34" charset="-122"/>
                <a:cs typeface="IBM Plex Sans" pitchFamily="34" charset="-120"/>
              </a:rPr>
              <a:t>Time per case: [figure from investigators]</a:t>
            </a:r>
            <a:endParaRPr lang="en-US" sz="1300" dirty="0"/>
          </a:p>
        </p:txBody>
      </p:sp>
      <p:sp>
        <p:nvSpPr>
          <p:cNvPr id="19" name="Shape 17"/>
          <p:cNvSpPr/>
          <p:nvPr/>
        </p:nvSpPr>
        <p:spPr>
          <a:xfrm>
            <a:off x="6203950" y="2228850"/>
            <a:ext cx="5175250" cy="2882900"/>
          </a:xfrm>
          <a:prstGeom prst="roundRect">
            <a:avLst>
              <a:gd name="adj" fmla="val 3524"/>
            </a:avLst>
          </a:prstGeom>
          <a:solidFill>
            <a:srgbClr val="13243A"/>
          </a:solidFill>
          <a:ln/>
        </p:spPr>
      </p:sp>
      <p:sp>
        <p:nvSpPr>
          <p:cNvPr id="20" name="Text 18"/>
          <p:cNvSpPr/>
          <p:nvPr/>
        </p:nvSpPr>
        <p:spPr>
          <a:xfrm>
            <a:off x="6432550" y="2457450"/>
            <a:ext cx="48595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9A6F"/>
                </a:solidFill>
                <a:latin typeface="IBM Plex Sans" pitchFamily="34" charset="0"/>
                <a:ea typeface="IBM Plex Sans" pitchFamily="34" charset="-122"/>
                <a:cs typeface="IBM Plex Sans" pitchFamily="34" charset="-120"/>
              </a:rPr>
              <a:t>ANOMALY SUMMARY TODAY</a:t>
            </a:r>
            <a:endParaRPr lang="en-US" sz="1200" dirty="0"/>
          </a:p>
        </p:txBody>
      </p:sp>
      <p:sp>
        <p:nvSpPr>
          <p:cNvPr id="21" name="Text 19"/>
          <p:cNvSpPr/>
          <p:nvPr/>
        </p:nvSpPr>
        <p:spPr>
          <a:xfrm>
            <a:off x="6432550" y="2781300"/>
            <a:ext cx="4718050" cy="787400"/>
          </a:xfrm>
          <a:prstGeom prst="roundRect">
            <a:avLst>
              <a:gd name="adj" fmla="val 9677"/>
            </a:avLst>
          </a:prstGeom>
          <a:solidFill>
            <a:srgbClr val="1C3150"/>
          </a:solidFill>
          <a:ln/>
        </p:spPr>
        <p:txBody>
          <a:bodyPr wrap="square" lIns="130082" tIns="104682" rIns="0" bIns="79282" rtlCol="0" anchor="t">
            <a:normAutofit/>
          </a:bodyPr>
          <a:lstStyle/>
          <a:p>
            <a:pPr algn="l" indent="0" marL="0">
              <a:lnSpc>
                <a:spcPts val="2100"/>
              </a:lnSpc>
              <a:buNone/>
            </a:pPr>
            <a:r>
              <a:rPr lang="en-US" sz="1500" i="1" dirty="0">
                <a:solidFill>
                  <a:srgbClr val="F5F3EE"/>
                </a:solidFill>
                <a:latin typeface="IBM Plex Sans" pitchFamily="34" charset="0"/>
                <a:ea typeface="IBM Plex Sans" pitchFamily="34" charset="-122"/>
                <a:cs typeface="IBM Plex Sans" pitchFamily="34" charset="-120"/>
              </a:rPr>
              <a:t>“Provider bills 90791 [x] times more often than peers.”</a:t>
            </a:r>
            <a:endParaRPr lang="en-US" sz="1500" dirty="0"/>
          </a:p>
        </p:txBody>
      </p:sp>
      <p:sp>
        <p:nvSpPr>
          <p:cNvPr id="22" name="Text 20"/>
          <p:cNvSpPr/>
          <p:nvPr/>
        </p:nvSpPr>
        <p:spPr>
          <a:xfrm>
            <a:off x="6432550" y="3683000"/>
            <a:ext cx="4859592"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39A6F"/>
                </a:solidFill>
                <a:latin typeface="IBM Plex Sans" pitchFamily="34" charset="0"/>
                <a:ea typeface="IBM Plex Sans" pitchFamily="34" charset="-122"/>
                <a:cs typeface="IBM Plex Sans" pitchFamily="34" charset="-120"/>
              </a:rPr>
              <a:t>What the summary cannot establish</a:t>
            </a:r>
            <a:endParaRPr lang="en-US" sz="1300" dirty="0"/>
          </a:p>
        </p:txBody>
      </p:sp>
      <p:sp>
        <p:nvSpPr>
          <p:cNvPr id="23" name="Text 21"/>
          <p:cNvSpPr/>
          <p:nvPr/>
        </p:nvSpPr>
        <p:spPr>
          <a:xfrm>
            <a:off x="6432550" y="4025900"/>
            <a:ext cx="48595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3EE"/>
                </a:solidFill>
                <a:latin typeface="IBM Plex Sans" pitchFamily="34" charset="0"/>
                <a:ea typeface="IBM Plex Sans" pitchFamily="34" charset="-122"/>
                <a:cs typeface="IBM Plex Sans" pitchFamily="34" charset="-120"/>
              </a:rPr>
              <a:t>Whether the applicable AHCCCS limit, exceptions, and authorization requirements were met.</a:t>
            </a:r>
            <a:endParaRPr lang="en-US" sz="1500" dirty="0"/>
          </a:p>
        </p:txBody>
      </p:sp>
      <p:sp>
        <p:nvSpPr>
          <p:cNvPr id="24" name="Text 22"/>
          <p:cNvSpPr/>
          <p:nvPr/>
        </p:nvSpPr>
        <p:spPr>
          <a:xfrm>
            <a:off x="6432550" y="4673600"/>
            <a:ext cx="48595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IBM Plex Sans" pitchFamily="34" charset="0"/>
                <a:ea typeface="IBM Plex Sans" pitchFamily="34" charset="-122"/>
                <a:cs typeface="IBM Plex Sans" pitchFamily="34" charset="-120"/>
              </a:rPr>
              <a:t>Illustrative example</a:t>
            </a:r>
            <a:endParaRPr lang="en-US" sz="1200" dirty="0"/>
          </a:p>
        </p:txBody>
      </p:sp>
      <p:sp>
        <p:nvSpPr>
          <p:cNvPr id="25" name="Text 23"/>
          <p:cNvSpPr/>
          <p:nvPr/>
        </p:nvSpPr>
        <p:spPr>
          <a:xfrm>
            <a:off x="812800" y="53657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43A"/>
                </a:solidFill>
                <a:latin typeface="IBM Plex Sans" pitchFamily="34" charset="0"/>
                <a:ea typeface="IBM Plex Sans" pitchFamily="34" charset="-122"/>
                <a:cs typeface="IBM Plex Sans" pitchFamily="34" charset="-120"/>
              </a:rPr>
              <a:t>An unusual pattern is a lead, not a violation. Investigators need the applicable rule and its source.</a:t>
            </a:r>
            <a:endParaRPr lang="en-US" sz="1500" dirty="0"/>
          </a:p>
        </p:txBody>
      </p:sp>
      <p:sp>
        <p:nvSpPr>
          <p:cNvPr id="26" name="Text 24"/>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27" name="Text 25"/>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WHERE THE RULES LIVE</a:t>
            </a:r>
            <a:endParaRPr lang="en-US" sz="1200" dirty="0"/>
          </a:p>
        </p:txBody>
      </p:sp>
      <p:sp>
        <p:nvSpPr>
          <p:cNvPr id="3" name="Text 1"/>
          <p:cNvSpPr/>
          <p:nvPr>
            <p:ph type="title"/>
          </p:nvPr>
        </p:nvSpPr>
        <p:spPr>
          <a:xfrm>
            <a:off x="812800" y="1123950"/>
            <a:ext cx="11379200" cy="45085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A single claim can be governed by requirements across many sources.</a:t>
            </a:r>
            <a:endParaRPr lang="en-US" sz="3000" dirty="0"/>
          </a:p>
        </p:txBody>
      </p:sp>
      <p:sp>
        <p:nvSpPr>
          <p:cNvPr id="4" name="Text 2"/>
          <p:cNvSpPr/>
          <p:nvPr/>
        </p:nvSpPr>
        <p:spPr>
          <a:xfrm>
            <a:off x="812800" y="16510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7"/>
                </a:solidFill>
                <a:latin typeface="IBM Plex Sans" pitchFamily="34" charset="0"/>
                <a:ea typeface="IBM Plex Sans" pitchFamily="34" charset="-122"/>
                <a:cs typeface="IBM Plex Sans" pitchFamily="34" charset="-120"/>
              </a:rPr>
              <a:t>The challenge is connecting coverage, billing, coding, exceptions, and effective dates into one coherent picture.</a:t>
            </a:r>
            <a:endParaRPr lang="en-US" sz="1400" dirty="0"/>
          </a:p>
        </p:txBody>
      </p:sp>
      <p:sp>
        <p:nvSpPr>
          <p:cNvPr id="5" name="Shape 3"/>
          <p:cNvSpPr/>
          <p:nvPr/>
        </p:nvSpPr>
        <p:spPr>
          <a:xfrm>
            <a:off x="815975" y="2130425"/>
            <a:ext cx="2540000" cy="2286000"/>
          </a:xfrm>
          <a:prstGeom prst="roundRect">
            <a:avLst>
              <a:gd name="adj" fmla="val 4306"/>
            </a:avLst>
          </a:prstGeom>
          <a:solidFill>
            <a:srgbClr val="FCFBF8"/>
          </a:solidFill>
          <a:ln w="6350">
            <a:solidFill>
              <a:srgbClr val="DAD6CC"/>
            </a:solidFill>
            <a:prstDash val="solid"/>
          </a:ln>
        </p:spPr>
      </p:sp>
      <p:sp>
        <p:nvSpPr>
          <p:cNvPr id="6" name="Text 4"/>
          <p:cNvSpPr/>
          <p:nvPr/>
        </p:nvSpPr>
        <p:spPr>
          <a:xfrm>
            <a:off x="996950" y="2311400"/>
            <a:ext cx="224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FEDERAL</a:t>
            </a:r>
            <a:endParaRPr lang="en-US" sz="1200" dirty="0"/>
          </a:p>
        </p:txBody>
      </p:sp>
      <p:pic>
        <p:nvPicPr>
          <p:cNvPr id="7" name="Image 0" descr="CheckCircle">    </p:cNvPr>
          <p:cNvPicPr>
            <a:picLocks noChangeAspect="1"/>
          </p:cNvPicPr>
          <p:nvPr/>
        </p:nvPicPr>
        <p:blipFill>
          <a:blip r:embed="rId1"/>
          <a:srcRect l="0" r="0" t="0" b="0"/>
          <a:stretch/>
        </p:blipFill>
        <p:spPr>
          <a:xfrm>
            <a:off x="996950" y="2613025"/>
            <a:ext cx="190500" cy="190500"/>
          </a:xfrm>
          <a:prstGeom prst="rect">
            <a:avLst/>
          </a:prstGeom>
        </p:spPr>
      </p:pic>
      <p:sp>
        <p:nvSpPr>
          <p:cNvPr id="8" name="Text 5"/>
          <p:cNvSpPr/>
          <p:nvPr/>
        </p:nvSpPr>
        <p:spPr>
          <a:xfrm>
            <a:off x="1250950" y="2609850"/>
            <a:ext cx="906185" cy="22225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8"/>
                </a:solidFill>
                <a:latin typeface="IBM Plex Sans" pitchFamily="34" charset="0"/>
                <a:ea typeface="IBM Plex Sans" pitchFamily="34" charset="-122"/>
                <a:cs typeface="IBM Plex Sans" pitchFamily="34" charset="-120"/>
              </a:rPr>
              <a:t>NCCI edits</a:t>
            </a:r>
            <a:endParaRPr lang="en-US" sz="1200" dirty="0"/>
          </a:p>
        </p:txBody>
      </p:sp>
      <p:pic>
        <p:nvPicPr>
          <p:cNvPr id="9" name="Image 1" descr="ellipse">    </p:cNvPr>
          <p:cNvPicPr>
            <a:picLocks noChangeAspect="1"/>
          </p:cNvPicPr>
          <p:nvPr/>
        </p:nvPicPr>
        <p:blipFill>
          <a:blip r:embed="rId2"/>
          <a:srcRect l="0" r="0" t="0" b="0"/>
          <a:stretch/>
        </p:blipFill>
        <p:spPr>
          <a:xfrm>
            <a:off x="996950" y="2949575"/>
            <a:ext cx="88900" cy="88900"/>
          </a:xfrm>
          <a:prstGeom prst="rect">
            <a:avLst/>
          </a:prstGeom>
        </p:spPr>
      </p:pic>
      <p:sp>
        <p:nvSpPr>
          <p:cNvPr id="10" name="Text 6"/>
          <p:cNvSpPr/>
          <p:nvPr/>
        </p:nvSpPr>
        <p:spPr>
          <a:xfrm>
            <a:off x="1149350" y="2895600"/>
            <a:ext cx="1580555"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Federal regulations</a:t>
            </a:r>
            <a:endParaRPr lang="en-US" sz="1200" dirty="0"/>
          </a:p>
        </p:txBody>
      </p:sp>
      <p:pic>
        <p:nvPicPr>
          <p:cNvPr id="11" name="Image 2" descr="ellipse">    </p:cNvPr>
          <p:cNvPicPr>
            <a:picLocks noChangeAspect="1"/>
          </p:cNvPicPr>
          <p:nvPr/>
        </p:nvPicPr>
        <p:blipFill>
          <a:blip r:embed="rId3"/>
          <a:srcRect l="0" r="0" t="0" b="0"/>
          <a:stretch/>
        </p:blipFill>
        <p:spPr>
          <a:xfrm>
            <a:off x="996950" y="3235325"/>
            <a:ext cx="88900" cy="88900"/>
          </a:xfrm>
          <a:prstGeom prst="rect">
            <a:avLst/>
          </a:prstGeom>
        </p:spPr>
      </p:pic>
      <p:sp>
        <p:nvSpPr>
          <p:cNvPr id="12" name="Text 7"/>
          <p:cNvSpPr/>
          <p:nvPr/>
        </p:nvSpPr>
        <p:spPr>
          <a:xfrm>
            <a:off x="1149350" y="3181350"/>
            <a:ext cx="1954887"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Code sets (CPT, HCPCS)</a:t>
            </a:r>
            <a:endParaRPr lang="en-US" sz="1200" dirty="0"/>
          </a:p>
        </p:txBody>
      </p:sp>
      <p:pic>
        <p:nvPicPr>
          <p:cNvPr id="13" name="Image 3" descr="ellipse">    </p:cNvPr>
          <p:cNvPicPr>
            <a:picLocks noChangeAspect="1"/>
          </p:cNvPicPr>
          <p:nvPr/>
        </p:nvPicPr>
        <p:blipFill>
          <a:blip r:embed="rId4"/>
          <a:srcRect l="0" r="0" t="0" b="0"/>
          <a:stretch/>
        </p:blipFill>
        <p:spPr>
          <a:xfrm>
            <a:off x="996950" y="3521075"/>
            <a:ext cx="88900" cy="88900"/>
          </a:xfrm>
          <a:prstGeom prst="rect">
            <a:avLst/>
          </a:prstGeom>
        </p:spPr>
      </p:pic>
      <p:sp>
        <p:nvSpPr>
          <p:cNvPr id="14" name="Text 8"/>
          <p:cNvSpPr/>
          <p:nvPr/>
        </p:nvSpPr>
        <p:spPr>
          <a:xfrm>
            <a:off x="1149350" y="3467100"/>
            <a:ext cx="1438989"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OIG exclusion list</a:t>
            </a:r>
            <a:endParaRPr lang="en-US" sz="1200" dirty="0"/>
          </a:p>
        </p:txBody>
      </p:sp>
      <p:pic>
        <p:nvPicPr>
          <p:cNvPr id="15" name="Image 4" descr="ellipse">    </p:cNvPr>
          <p:cNvPicPr>
            <a:picLocks noChangeAspect="1"/>
          </p:cNvPicPr>
          <p:nvPr/>
        </p:nvPicPr>
        <p:blipFill>
          <a:blip r:embed="rId5"/>
          <a:srcRect l="-721" r="-721" t="0" b="0"/>
          <a:stretch/>
        </p:blipFill>
        <p:spPr>
          <a:xfrm>
            <a:off x="996950" y="3905250"/>
            <a:ext cx="83741" cy="88900"/>
          </a:xfrm>
          <a:prstGeom prst="rect">
            <a:avLst/>
          </a:prstGeom>
        </p:spPr>
      </p:pic>
      <p:sp>
        <p:nvSpPr>
          <p:cNvPr id="16" name="Text 9"/>
          <p:cNvSpPr/>
          <p:nvPr/>
        </p:nvSpPr>
        <p:spPr>
          <a:xfrm>
            <a:off x="1144191" y="3752850"/>
            <a:ext cx="2091734" cy="41910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SAMHSA: methadone programs</a:t>
            </a:r>
            <a:endParaRPr lang="en-US" sz="1200" dirty="0"/>
          </a:p>
        </p:txBody>
      </p:sp>
      <p:sp>
        <p:nvSpPr>
          <p:cNvPr id="17" name="Shape 10"/>
          <p:cNvSpPr/>
          <p:nvPr/>
        </p:nvSpPr>
        <p:spPr>
          <a:xfrm>
            <a:off x="3489325" y="2130425"/>
            <a:ext cx="2540000" cy="2286000"/>
          </a:xfrm>
          <a:prstGeom prst="roundRect">
            <a:avLst>
              <a:gd name="adj" fmla="val 4306"/>
            </a:avLst>
          </a:prstGeom>
          <a:solidFill>
            <a:srgbClr val="FCFBF8"/>
          </a:solidFill>
          <a:ln w="6350">
            <a:solidFill>
              <a:srgbClr val="DAD6CC"/>
            </a:solidFill>
            <a:prstDash val="solid"/>
          </a:ln>
        </p:spPr>
      </p:sp>
      <p:sp>
        <p:nvSpPr>
          <p:cNvPr id="18" name="Text 11"/>
          <p:cNvSpPr/>
          <p:nvPr/>
        </p:nvSpPr>
        <p:spPr>
          <a:xfrm>
            <a:off x="3670300" y="2311400"/>
            <a:ext cx="224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AHCCCS MANUALS</a:t>
            </a:r>
            <a:endParaRPr lang="en-US" sz="1200" dirty="0"/>
          </a:p>
        </p:txBody>
      </p:sp>
      <p:pic>
        <p:nvPicPr>
          <p:cNvPr id="19" name="Image 5" descr="CheckCircle">    </p:cNvPr>
          <p:cNvPicPr>
            <a:picLocks noChangeAspect="1"/>
          </p:cNvPicPr>
          <p:nvPr/>
        </p:nvPicPr>
        <p:blipFill>
          <a:blip r:embed="rId6"/>
          <a:srcRect l="0" r="0" t="0" b="0"/>
          <a:stretch/>
        </p:blipFill>
        <p:spPr>
          <a:xfrm>
            <a:off x="3670300" y="2613025"/>
            <a:ext cx="190500" cy="190500"/>
          </a:xfrm>
          <a:prstGeom prst="rect">
            <a:avLst/>
          </a:prstGeom>
        </p:spPr>
      </p:pic>
      <p:sp>
        <p:nvSpPr>
          <p:cNvPr id="20" name="Text 12"/>
          <p:cNvSpPr/>
          <p:nvPr/>
        </p:nvSpPr>
        <p:spPr>
          <a:xfrm>
            <a:off x="3924300" y="2609850"/>
            <a:ext cx="1568529" cy="22225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8"/>
                </a:solidFill>
                <a:latin typeface="IBM Plex Sans" pitchFamily="34" charset="0"/>
                <a:ea typeface="IBM Plex Sans" pitchFamily="34" charset="-122"/>
                <a:cs typeface="IBM Plex Sans" pitchFamily="34" charset="-120"/>
              </a:rPr>
              <a:t>FFS billing manual</a:t>
            </a:r>
            <a:endParaRPr lang="en-US" sz="1200" dirty="0"/>
          </a:p>
        </p:txBody>
      </p:sp>
      <p:pic>
        <p:nvPicPr>
          <p:cNvPr id="21" name="Image 6" descr="ellipse">    </p:cNvPr>
          <p:cNvPicPr>
            <a:picLocks noChangeAspect="1"/>
          </p:cNvPicPr>
          <p:nvPr/>
        </p:nvPicPr>
        <p:blipFill>
          <a:blip r:embed="rId7"/>
          <a:srcRect l="0" r="0" t="-1672" b="-1672"/>
          <a:stretch/>
        </p:blipFill>
        <p:spPr>
          <a:xfrm>
            <a:off x="3670300" y="3048000"/>
            <a:ext cx="86023" cy="88900"/>
          </a:xfrm>
          <a:prstGeom prst="rect">
            <a:avLst/>
          </a:prstGeom>
        </p:spPr>
      </p:pic>
      <p:sp>
        <p:nvSpPr>
          <p:cNvPr id="22" name="Text 13"/>
          <p:cNvSpPr/>
          <p:nvPr/>
        </p:nvSpPr>
        <p:spPr>
          <a:xfrm>
            <a:off x="3819823" y="2895600"/>
            <a:ext cx="2089383" cy="41910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Medical policy manual (AMPM)</a:t>
            </a:r>
            <a:endParaRPr lang="en-US" sz="1200" dirty="0"/>
          </a:p>
        </p:txBody>
      </p:sp>
      <p:pic>
        <p:nvPicPr>
          <p:cNvPr id="23" name="Image 7" descr="ellipse">    </p:cNvPr>
          <p:cNvPicPr>
            <a:picLocks noChangeAspect="1"/>
          </p:cNvPicPr>
          <p:nvPr/>
        </p:nvPicPr>
        <p:blipFill>
          <a:blip r:embed="rId8"/>
          <a:srcRect l="0" r="0" t="-1741" b="-1741"/>
          <a:stretch/>
        </p:blipFill>
        <p:spPr>
          <a:xfrm>
            <a:off x="3670300" y="3530600"/>
            <a:ext cx="79772" cy="88900"/>
          </a:xfrm>
          <a:prstGeom prst="rect">
            <a:avLst/>
          </a:prstGeom>
        </p:spPr>
      </p:pic>
      <p:sp>
        <p:nvSpPr>
          <p:cNvPr id="24" name="Text 14"/>
          <p:cNvSpPr/>
          <p:nvPr/>
        </p:nvSpPr>
        <p:spPr>
          <a:xfrm>
            <a:off x="3813572" y="3378200"/>
            <a:ext cx="2095821" cy="41910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Behavioral Health Services Guide</a:t>
            </a:r>
            <a:endParaRPr lang="en-US" sz="1200" dirty="0"/>
          </a:p>
        </p:txBody>
      </p:sp>
      <p:pic>
        <p:nvPicPr>
          <p:cNvPr id="25" name="Image 8" descr="ellipse">    </p:cNvPr>
          <p:cNvPicPr>
            <a:picLocks noChangeAspect="1"/>
          </p:cNvPicPr>
          <p:nvPr/>
        </p:nvPicPr>
        <p:blipFill>
          <a:blip r:embed="rId9"/>
          <a:srcRect l="0" r="0" t="0" b="0"/>
          <a:stretch/>
        </p:blipFill>
        <p:spPr>
          <a:xfrm>
            <a:off x="3670300" y="3914775"/>
            <a:ext cx="88900" cy="88900"/>
          </a:xfrm>
          <a:prstGeom prst="rect">
            <a:avLst/>
          </a:prstGeom>
        </p:spPr>
      </p:pic>
      <p:sp>
        <p:nvSpPr>
          <p:cNvPr id="26" name="Text 15"/>
          <p:cNvSpPr/>
          <p:nvPr/>
        </p:nvSpPr>
        <p:spPr>
          <a:xfrm>
            <a:off x="3822700" y="3860800"/>
            <a:ext cx="2040493"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IHS/Tribal billing manual</a:t>
            </a:r>
            <a:endParaRPr lang="en-US" sz="1200" dirty="0"/>
          </a:p>
        </p:txBody>
      </p:sp>
      <p:sp>
        <p:nvSpPr>
          <p:cNvPr id="27" name="Shape 16"/>
          <p:cNvSpPr/>
          <p:nvPr/>
        </p:nvSpPr>
        <p:spPr>
          <a:xfrm>
            <a:off x="6162675" y="2130425"/>
            <a:ext cx="2540000" cy="2286000"/>
          </a:xfrm>
          <a:prstGeom prst="roundRect">
            <a:avLst>
              <a:gd name="adj" fmla="val 4306"/>
            </a:avLst>
          </a:prstGeom>
          <a:solidFill>
            <a:srgbClr val="FCFBF8"/>
          </a:solidFill>
          <a:ln w="6350">
            <a:solidFill>
              <a:srgbClr val="DAD6CC"/>
            </a:solidFill>
            <a:prstDash val="solid"/>
          </a:ln>
        </p:spPr>
      </p:sp>
      <p:sp>
        <p:nvSpPr>
          <p:cNvPr id="28" name="Text 17"/>
          <p:cNvSpPr/>
          <p:nvPr/>
        </p:nvSpPr>
        <p:spPr>
          <a:xfrm>
            <a:off x="6343650" y="2311400"/>
            <a:ext cx="224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AHCCCS TABLES</a:t>
            </a:r>
            <a:endParaRPr lang="en-US" sz="1200" dirty="0"/>
          </a:p>
        </p:txBody>
      </p:sp>
      <p:pic>
        <p:nvPicPr>
          <p:cNvPr id="29" name="Image 9" descr="CheckCircle">    </p:cNvPr>
          <p:cNvPicPr>
            <a:picLocks noChangeAspect="1"/>
          </p:cNvPicPr>
          <p:nvPr/>
        </p:nvPicPr>
        <p:blipFill>
          <a:blip r:embed="rId10"/>
          <a:srcRect l="0" r="0" t="0" b="0"/>
          <a:stretch/>
        </p:blipFill>
        <p:spPr>
          <a:xfrm>
            <a:off x="6343650" y="2613025"/>
            <a:ext cx="190500" cy="190500"/>
          </a:xfrm>
          <a:prstGeom prst="rect">
            <a:avLst/>
          </a:prstGeom>
        </p:spPr>
      </p:pic>
      <p:sp>
        <p:nvSpPr>
          <p:cNvPr id="30" name="Text 18"/>
          <p:cNvSpPr/>
          <p:nvPr/>
        </p:nvSpPr>
        <p:spPr>
          <a:xfrm>
            <a:off x="6597650" y="2609850"/>
            <a:ext cx="1323380" cy="22225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8"/>
                </a:solidFill>
                <a:latin typeface="IBM Plex Sans" pitchFamily="34" charset="0"/>
                <a:ea typeface="IBM Plex Sans" pitchFamily="34" charset="-122"/>
                <a:cs typeface="IBM Plex Sans" pitchFamily="34" charset="-120"/>
              </a:rPr>
              <a:t>Same Day table</a:t>
            </a:r>
            <a:endParaRPr lang="en-US" sz="1200" dirty="0"/>
          </a:p>
        </p:txBody>
      </p:sp>
      <p:pic>
        <p:nvPicPr>
          <p:cNvPr id="31" name="Image 10" descr="CheckCircle">    </p:cNvPr>
          <p:cNvPicPr>
            <a:picLocks noChangeAspect="1"/>
          </p:cNvPicPr>
          <p:nvPr/>
        </p:nvPicPr>
        <p:blipFill>
          <a:blip r:embed="rId11"/>
          <a:srcRect l="0" r="0" t="0" b="0"/>
          <a:stretch/>
        </p:blipFill>
        <p:spPr>
          <a:xfrm>
            <a:off x="6343650" y="2898775"/>
            <a:ext cx="190500" cy="190500"/>
          </a:xfrm>
          <a:prstGeom prst="rect">
            <a:avLst/>
          </a:prstGeom>
        </p:spPr>
      </p:pic>
      <p:sp>
        <p:nvSpPr>
          <p:cNvPr id="32" name="Text 19"/>
          <p:cNvSpPr/>
          <p:nvPr/>
        </p:nvSpPr>
        <p:spPr>
          <a:xfrm>
            <a:off x="6597650" y="2895600"/>
            <a:ext cx="1425535" cy="22225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8"/>
                </a:solidFill>
                <a:latin typeface="IBM Plex Sans" pitchFamily="34" charset="0"/>
                <a:ea typeface="IBM Plex Sans" pitchFamily="34" charset="-122"/>
                <a:cs typeface="IBM Plex Sans" pitchFamily="34" charset="-120"/>
              </a:rPr>
              <a:t>Daily limits table</a:t>
            </a:r>
            <a:endParaRPr lang="en-US" sz="1200" dirty="0"/>
          </a:p>
        </p:txBody>
      </p:sp>
      <p:pic>
        <p:nvPicPr>
          <p:cNvPr id="33" name="Image 11" descr="CheckCircle">    </p:cNvPr>
          <p:cNvPicPr>
            <a:picLocks noChangeAspect="1"/>
          </p:cNvPicPr>
          <p:nvPr/>
        </p:nvPicPr>
        <p:blipFill>
          <a:blip r:embed="rId12"/>
          <a:srcRect l="0" r="0" t="0" b="0"/>
          <a:stretch/>
        </p:blipFill>
        <p:spPr>
          <a:xfrm>
            <a:off x="6343650" y="3184525"/>
            <a:ext cx="190500" cy="190500"/>
          </a:xfrm>
          <a:prstGeom prst="rect">
            <a:avLst/>
          </a:prstGeom>
        </p:spPr>
      </p:pic>
      <p:sp>
        <p:nvSpPr>
          <p:cNvPr id="34" name="Text 20"/>
          <p:cNvSpPr/>
          <p:nvPr/>
        </p:nvSpPr>
        <p:spPr>
          <a:xfrm>
            <a:off x="6597650" y="3181350"/>
            <a:ext cx="828080" cy="22225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38"/>
                </a:solidFill>
                <a:latin typeface="IBM Plex Sans" pitchFamily="34" charset="0"/>
                <a:ea typeface="IBM Plex Sans" pitchFamily="34" charset="-122"/>
                <a:cs typeface="IBM Plex Sans" pitchFamily="34" charset="-120"/>
              </a:rPr>
              <a:t>B2 matrix</a:t>
            </a:r>
            <a:endParaRPr lang="en-US" sz="1200" dirty="0"/>
          </a:p>
        </p:txBody>
      </p:sp>
      <p:pic>
        <p:nvPicPr>
          <p:cNvPr id="35" name="Image 12" descr="ellipse">    </p:cNvPr>
          <p:cNvPicPr>
            <a:picLocks noChangeAspect="1"/>
          </p:cNvPicPr>
          <p:nvPr/>
        </p:nvPicPr>
        <p:blipFill>
          <a:blip r:embed="rId13"/>
          <a:srcRect l="0" r="0" t="0" b="0"/>
          <a:stretch/>
        </p:blipFill>
        <p:spPr>
          <a:xfrm>
            <a:off x="6343650" y="3521075"/>
            <a:ext cx="88900" cy="88900"/>
          </a:xfrm>
          <a:prstGeom prst="rect">
            <a:avLst/>
          </a:prstGeom>
        </p:spPr>
      </p:pic>
      <p:sp>
        <p:nvSpPr>
          <p:cNvPr id="36" name="Text 21"/>
          <p:cNvSpPr/>
          <p:nvPr/>
        </p:nvSpPr>
        <p:spPr>
          <a:xfrm>
            <a:off x="6496050" y="3467100"/>
            <a:ext cx="1103709"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PA guidelines</a:t>
            </a:r>
            <a:endParaRPr lang="en-US" sz="1200" dirty="0"/>
          </a:p>
        </p:txBody>
      </p:sp>
      <p:pic>
        <p:nvPicPr>
          <p:cNvPr id="37" name="Image 13" descr="ellipse">    </p:cNvPr>
          <p:cNvPicPr>
            <a:picLocks noChangeAspect="1"/>
          </p:cNvPicPr>
          <p:nvPr/>
        </p:nvPicPr>
        <p:blipFill>
          <a:blip r:embed="rId14"/>
          <a:srcRect l="0" r="0" t="0" b="0"/>
          <a:stretch/>
        </p:blipFill>
        <p:spPr>
          <a:xfrm>
            <a:off x="6343650" y="3806825"/>
            <a:ext cx="88900" cy="88900"/>
          </a:xfrm>
          <a:prstGeom prst="rect">
            <a:avLst/>
          </a:prstGeom>
        </p:spPr>
      </p:pic>
      <p:sp>
        <p:nvSpPr>
          <p:cNvPr id="38" name="Text 22"/>
          <p:cNvSpPr/>
          <p:nvPr/>
        </p:nvSpPr>
        <p:spPr>
          <a:xfrm>
            <a:off x="6496050" y="3752850"/>
            <a:ext cx="1176218"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Fee schedules</a:t>
            </a:r>
            <a:endParaRPr lang="en-US" sz="1200" dirty="0"/>
          </a:p>
        </p:txBody>
      </p:sp>
      <p:pic>
        <p:nvPicPr>
          <p:cNvPr id="39" name="Image 14" descr="ellipse">    </p:cNvPr>
          <p:cNvPicPr>
            <a:picLocks noChangeAspect="1"/>
          </p:cNvPicPr>
          <p:nvPr/>
        </p:nvPicPr>
        <p:blipFill>
          <a:blip r:embed="rId15"/>
          <a:srcRect l="0" r="0" t="0" b="0"/>
          <a:stretch/>
        </p:blipFill>
        <p:spPr>
          <a:xfrm>
            <a:off x="6343650" y="4092575"/>
            <a:ext cx="88900" cy="88900"/>
          </a:xfrm>
          <a:prstGeom prst="rect">
            <a:avLst/>
          </a:prstGeom>
        </p:spPr>
      </p:pic>
      <p:sp>
        <p:nvSpPr>
          <p:cNvPr id="40" name="Text 23"/>
          <p:cNvSpPr/>
          <p:nvPr/>
        </p:nvSpPr>
        <p:spPr>
          <a:xfrm>
            <a:off x="6496050" y="4038600"/>
            <a:ext cx="1872972"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Outpatient code tables</a:t>
            </a:r>
            <a:endParaRPr lang="en-US" sz="1200" dirty="0"/>
          </a:p>
        </p:txBody>
      </p:sp>
      <p:sp>
        <p:nvSpPr>
          <p:cNvPr id="41" name="Shape 24"/>
          <p:cNvSpPr/>
          <p:nvPr/>
        </p:nvSpPr>
        <p:spPr>
          <a:xfrm>
            <a:off x="8836025" y="2130425"/>
            <a:ext cx="2540000" cy="2286000"/>
          </a:xfrm>
          <a:prstGeom prst="roundRect">
            <a:avLst>
              <a:gd name="adj" fmla="val 4306"/>
            </a:avLst>
          </a:prstGeom>
          <a:solidFill>
            <a:srgbClr val="FCFBF8"/>
          </a:solidFill>
          <a:ln w="6350">
            <a:solidFill>
              <a:srgbClr val="DAD6CC"/>
            </a:solidFill>
            <a:prstDash val="solid"/>
          </a:ln>
        </p:spPr>
      </p:sp>
      <p:sp>
        <p:nvSpPr>
          <p:cNvPr id="42" name="Text 25"/>
          <p:cNvSpPr/>
          <p:nvPr/>
        </p:nvSpPr>
        <p:spPr>
          <a:xfrm>
            <a:off x="9017000" y="2311400"/>
            <a:ext cx="224339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LAW AND UPDATES</a:t>
            </a:r>
            <a:endParaRPr lang="en-US" sz="1200" dirty="0"/>
          </a:p>
        </p:txBody>
      </p:sp>
      <p:pic>
        <p:nvPicPr>
          <p:cNvPr id="43" name="Image 15" descr="ellipse">    </p:cNvPr>
          <p:cNvPicPr>
            <a:picLocks noChangeAspect="1"/>
          </p:cNvPicPr>
          <p:nvPr/>
        </p:nvPicPr>
        <p:blipFill>
          <a:blip r:embed="rId16"/>
          <a:srcRect l="0" r="0" t="0" b="0"/>
          <a:stretch/>
        </p:blipFill>
        <p:spPr>
          <a:xfrm>
            <a:off x="9017000" y="2663825"/>
            <a:ext cx="88900" cy="88900"/>
          </a:xfrm>
          <a:prstGeom prst="rect">
            <a:avLst/>
          </a:prstGeom>
        </p:spPr>
      </p:pic>
      <p:sp>
        <p:nvSpPr>
          <p:cNvPr id="44" name="Text 26"/>
          <p:cNvSpPr/>
          <p:nvPr/>
        </p:nvSpPr>
        <p:spPr>
          <a:xfrm>
            <a:off x="9169400" y="2609850"/>
            <a:ext cx="220345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Arizona statutes (A.R.S. 36)</a:t>
            </a:r>
            <a:endParaRPr lang="en-US" sz="1200" dirty="0"/>
          </a:p>
        </p:txBody>
      </p:sp>
      <p:pic>
        <p:nvPicPr>
          <p:cNvPr id="45" name="Image 16" descr="ellipse">    </p:cNvPr>
          <p:cNvPicPr>
            <a:picLocks noChangeAspect="1"/>
          </p:cNvPicPr>
          <p:nvPr/>
        </p:nvPicPr>
        <p:blipFill>
          <a:blip r:embed="rId17"/>
          <a:srcRect l="0" r="0" t="0" b="0"/>
          <a:stretch/>
        </p:blipFill>
        <p:spPr>
          <a:xfrm>
            <a:off x="9017000" y="2949575"/>
            <a:ext cx="88900" cy="88900"/>
          </a:xfrm>
          <a:prstGeom prst="rect">
            <a:avLst/>
          </a:prstGeom>
        </p:spPr>
      </p:pic>
      <p:sp>
        <p:nvSpPr>
          <p:cNvPr id="46" name="Text 27"/>
          <p:cNvSpPr/>
          <p:nvPr/>
        </p:nvSpPr>
        <p:spPr>
          <a:xfrm>
            <a:off x="9169400" y="2895600"/>
            <a:ext cx="2203450"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Arizona rules (A.A.C. Title 9)</a:t>
            </a:r>
            <a:endParaRPr lang="en-US" sz="1200" dirty="0"/>
          </a:p>
        </p:txBody>
      </p:sp>
      <p:pic>
        <p:nvPicPr>
          <p:cNvPr id="47" name="Image 17" descr="ellipse">    </p:cNvPr>
          <p:cNvPicPr>
            <a:picLocks noChangeAspect="1"/>
          </p:cNvPicPr>
          <p:nvPr/>
        </p:nvPicPr>
        <p:blipFill>
          <a:blip r:embed="rId18"/>
          <a:srcRect l="0" r="0" t="0" b="0"/>
          <a:stretch/>
        </p:blipFill>
        <p:spPr>
          <a:xfrm>
            <a:off x="9017000" y="3235325"/>
            <a:ext cx="88900" cy="88900"/>
          </a:xfrm>
          <a:prstGeom prst="rect">
            <a:avLst/>
          </a:prstGeom>
        </p:spPr>
      </p:pic>
      <p:sp>
        <p:nvSpPr>
          <p:cNvPr id="48" name="Text 28"/>
          <p:cNvSpPr/>
          <p:nvPr/>
        </p:nvSpPr>
        <p:spPr>
          <a:xfrm>
            <a:off x="9169400" y="3181350"/>
            <a:ext cx="837247"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State Plan</a:t>
            </a:r>
            <a:endParaRPr lang="en-US" sz="1200" dirty="0"/>
          </a:p>
        </p:txBody>
      </p:sp>
      <p:pic>
        <p:nvPicPr>
          <p:cNvPr id="49" name="Image 18" descr="ellipse">    </p:cNvPr>
          <p:cNvPicPr>
            <a:picLocks noChangeAspect="1"/>
          </p:cNvPicPr>
          <p:nvPr/>
        </p:nvPicPr>
        <p:blipFill>
          <a:blip r:embed="rId19"/>
          <a:srcRect l="0" r="0" t="0" b="0"/>
          <a:stretch/>
        </p:blipFill>
        <p:spPr>
          <a:xfrm>
            <a:off x="9017000" y="3521075"/>
            <a:ext cx="88900" cy="88900"/>
          </a:xfrm>
          <a:prstGeom prst="rect">
            <a:avLst/>
          </a:prstGeom>
        </p:spPr>
      </p:pic>
      <p:sp>
        <p:nvSpPr>
          <p:cNvPr id="50" name="Text 29"/>
          <p:cNvSpPr/>
          <p:nvPr/>
        </p:nvSpPr>
        <p:spPr>
          <a:xfrm>
            <a:off x="9169400" y="3467100"/>
            <a:ext cx="1020366"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1115 waiver</a:t>
            </a:r>
            <a:endParaRPr lang="en-US" sz="1200" dirty="0"/>
          </a:p>
        </p:txBody>
      </p:sp>
      <p:pic>
        <p:nvPicPr>
          <p:cNvPr id="51" name="Image 19" descr="ellipse">    </p:cNvPr>
          <p:cNvPicPr>
            <a:picLocks noChangeAspect="1"/>
          </p:cNvPicPr>
          <p:nvPr/>
        </p:nvPicPr>
        <p:blipFill>
          <a:blip r:embed="rId20"/>
          <a:srcRect l="0" r="0" t="0" b="0"/>
          <a:stretch/>
        </p:blipFill>
        <p:spPr>
          <a:xfrm>
            <a:off x="9017000" y="3806825"/>
            <a:ext cx="88900" cy="88900"/>
          </a:xfrm>
          <a:prstGeom prst="rect">
            <a:avLst/>
          </a:prstGeom>
        </p:spPr>
      </p:pic>
      <p:sp>
        <p:nvSpPr>
          <p:cNvPr id="52" name="Text 30"/>
          <p:cNvSpPr/>
          <p:nvPr/>
        </p:nvSpPr>
        <p:spPr>
          <a:xfrm>
            <a:off x="9169400" y="3752850"/>
            <a:ext cx="1760458" cy="22225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E2A38"/>
                </a:solidFill>
                <a:latin typeface="IBM Plex Sans" pitchFamily="34" charset="0"/>
                <a:ea typeface="IBM Plex Sans" pitchFamily="34" charset="-122"/>
                <a:cs typeface="IBM Plex Sans" pitchFamily="34" charset="-120"/>
              </a:rPr>
              <a:t>Monthly Claims Clues</a:t>
            </a:r>
            <a:endParaRPr lang="en-US" sz="1200" dirty="0"/>
          </a:p>
        </p:txBody>
      </p:sp>
      <p:pic>
        <p:nvPicPr>
          <p:cNvPr id="53" name="Image 20" descr="CheckCircle">    </p:cNvPr>
          <p:cNvPicPr>
            <a:picLocks noChangeAspect="1"/>
          </p:cNvPicPr>
          <p:nvPr/>
        </p:nvPicPr>
        <p:blipFill>
          <a:blip r:embed="rId21"/>
          <a:srcRect l="0" r="0" t="0" b="0"/>
          <a:stretch/>
        </p:blipFill>
        <p:spPr>
          <a:xfrm>
            <a:off x="812800" y="4667250"/>
            <a:ext cx="190500" cy="190500"/>
          </a:xfrm>
          <a:prstGeom prst="rect">
            <a:avLst/>
          </a:prstGeom>
        </p:spPr>
      </p:pic>
      <p:sp>
        <p:nvSpPr>
          <p:cNvPr id="54" name="Text 31"/>
          <p:cNvSpPr/>
          <p:nvPr/>
        </p:nvSpPr>
        <p:spPr>
          <a:xfrm>
            <a:off x="1066800" y="4648200"/>
            <a:ext cx="2224207"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A3D"/>
                </a:solidFill>
                <a:latin typeface="IBM Plex Sans" pitchFamily="34" charset="0"/>
                <a:ea typeface="IBM Plex Sans" pitchFamily="34" charset="-122"/>
                <a:cs typeface="IBM Plex Sans" pitchFamily="34" charset="-120"/>
              </a:rPr>
              <a:t>Loaded today: 5 sources</a:t>
            </a:r>
            <a:endParaRPr lang="en-US" sz="1300" dirty="0"/>
          </a:p>
        </p:txBody>
      </p:sp>
      <p:sp>
        <p:nvSpPr>
          <p:cNvPr id="55" name="Text 32"/>
          <p:cNvSpPr/>
          <p:nvPr/>
        </p:nvSpPr>
        <p:spPr>
          <a:xfrm>
            <a:off x="4901367" y="4648200"/>
            <a:ext cx="6477833" cy="25400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3243A"/>
                </a:solidFill>
                <a:latin typeface="IBM Plex Sans" pitchFamily="34" charset="0"/>
                <a:ea typeface="IBM Plex Sans" pitchFamily="34" charset="-122"/>
                <a:cs typeface="IBM Plex Sans" pitchFamily="34" charset="-120"/>
              </a:rPr>
              <a:t>When requirements are dispersed, potentially improper billing is harder to assess consistently.</a:t>
            </a:r>
            <a:endParaRPr lang="en-US" sz="1300" dirty="0"/>
          </a:p>
        </p:txBody>
      </p:sp>
      <p:sp>
        <p:nvSpPr>
          <p:cNvPr id="56" name="Text 33"/>
          <p:cNvSpPr/>
          <p:nvPr/>
        </p:nvSpPr>
        <p:spPr>
          <a:xfrm>
            <a:off x="812800" y="6242050"/>
            <a:ext cx="78486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Evidence: GAO-24-107487; MACPAC testimony, April 2024</a:t>
            </a:r>
            <a:endParaRPr lang="en-US" sz="1200" dirty="0"/>
          </a:p>
        </p:txBody>
      </p:sp>
      <p:sp>
        <p:nvSpPr>
          <p:cNvPr id="57" name="Text 34"/>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THE KNOWLEDGE BASE</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One traceable policy knowledge base. Multiple uses across program integrity.</a:t>
            </a:r>
            <a:endParaRPr lang="en-US" sz="3000" dirty="0"/>
          </a:p>
        </p:txBody>
      </p:sp>
      <p:sp>
        <p:nvSpPr>
          <p:cNvPr id="4" name="Shape 2"/>
          <p:cNvSpPr/>
          <p:nvPr/>
        </p:nvSpPr>
        <p:spPr>
          <a:xfrm>
            <a:off x="815975" y="2206625"/>
            <a:ext cx="2650232" cy="2698750"/>
          </a:xfrm>
          <a:prstGeom prst="roundRect">
            <a:avLst>
              <a:gd name="adj" fmla="val 3714"/>
            </a:avLst>
          </a:prstGeom>
          <a:solidFill>
            <a:srgbClr val="FCFBF8"/>
          </a:solidFill>
          <a:ln w="6350">
            <a:solidFill>
              <a:srgbClr val="DAD6CC"/>
            </a:solidFill>
            <a:prstDash val="solid"/>
          </a:ln>
        </p:spPr>
      </p:sp>
      <p:sp>
        <p:nvSpPr>
          <p:cNvPr id="5" name="Text 3"/>
          <p:cNvSpPr/>
          <p:nvPr/>
        </p:nvSpPr>
        <p:spPr>
          <a:xfrm>
            <a:off x="1022350" y="2413000"/>
            <a:ext cx="2304606"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SOURCES</a:t>
            </a:r>
            <a:endParaRPr lang="en-US" sz="1200" dirty="0"/>
          </a:p>
        </p:txBody>
      </p:sp>
      <p:sp>
        <p:nvSpPr>
          <p:cNvPr id="6" name="Text 4"/>
          <p:cNvSpPr/>
          <p:nvPr/>
        </p:nvSpPr>
        <p:spPr>
          <a:xfrm>
            <a:off x="1022350" y="2711450"/>
            <a:ext cx="2304606"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38"/>
                </a:solidFill>
                <a:latin typeface="IBM Plex Sans" pitchFamily="34" charset="0"/>
                <a:ea typeface="IBM Plex Sans" pitchFamily="34" charset="-122"/>
                <a:cs typeface="IBM Plex Sans" pitchFamily="34" charset="-120"/>
              </a:rPr>
              <a:t>CMS federal edits (code pairs and unit limits)</a:t>
            </a:r>
            <a:endParaRPr lang="en-US" sz="1300" dirty="0"/>
          </a:p>
        </p:txBody>
      </p:sp>
      <p:sp>
        <p:nvSpPr>
          <p:cNvPr id="7" name="Text 5"/>
          <p:cNvSpPr/>
          <p:nvPr/>
        </p:nvSpPr>
        <p:spPr>
          <a:xfrm>
            <a:off x="1022350" y="3244850"/>
            <a:ext cx="2304606"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38"/>
                </a:solidFill>
                <a:latin typeface="IBM Plex Sans" pitchFamily="34" charset="0"/>
                <a:ea typeface="IBM Plex Sans" pitchFamily="34" charset="-122"/>
                <a:cs typeface="IBM Plex Sans" pitchFamily="34" charset="-120"/>
              </a:rPr>
              <a:t>AHCCCS billing manual</a:t>
            </a:r>
            <a:endParaRPr lang="en-US" sz="1300" dirty="0"/>
          </a:p>
        </p:txBody>
      </p:sp>
      <p:sp>
        <p:nvSpPr>
          <p:cNvPr id="8" name="Text 6"/>
          <p:cNvSpPr/>
          <p:nvPr/>
        </p:nvSpPr>
        <p:spPr>
          <a:xfrm>
            <a:off x="1022350" y="3556000"/>
            <a:ext cx="2304606"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38"/>
                </a:solidFill>
                <a:latin typeface="IBM Plex Sans" pitchFamily="34" charset="0"/>
                <a:ea typeface="IBM Plex Sans" pitchFamily="34" charset="-122"/>
                <a:cs typeface="IBM Plex Sans" pitchFamily="34" charset="-120"/>
              </a:rPr>
              <a:t>AHCCCS rule tables: Same Day, daily limits, B2 matrix</a:t>
            </a:r>
            <a:endParaRPr lang="en-US" sz="1300" dirty="0"/>
          </a:p>
        </p:txBody>
      </p:sp>
      <p:sp>
        <p:nvSpPr>
          <p:cNvPr id="9" name="Text 7"/>
          <p:cNvSpPr/>
          <p:nvPr/>
        </p:nvSpPr>
        <p:spPr>
          <a:xfrm>
            <a:off x="1022350" y="4089400"/>
            <a:ext cx="2304606" cy="63500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5F6873"/>
                </a:solidFill>
                <a:latin typeface="IBM Plex Sans" pitchFamily="34" charset="0"/>
                <a:ea typeface="IBM Plex Sans" pitchFamily="34" charset="-122"/>
                <a:cs typeface="IBM Plex Sans" pitchFamily="34" charset="-120"/>
              </a:rPr>
              <a:t>Next: medical policy manual, Behavioral Health Services Guide, PA guidelines</a:t>
            </a:r>
            <a:endParaRPr lang="en-US" sz="1200" dirty="0"/>
          </a:p>
        </p:txBody>
      </p:sp>
      <p:pic>
        <p:nvPicPr>
          <p:cNvPr id="10" name="Image 0" descr="arrow-right">    </p:cNvPr>
          <p:cNvPicPr>
            <a:picLocks noChangeAspect="1"/>
          </p:cNvPicPr>
          <p:nvPr/>
        </p:nvPicPr>
        <p:blipFill>
          <a:blip r:embed="rId1"/>
          <a:srcRect l="0" r="0" t="0" b="0"/>
          <a:stretch/>
        </p:blipFill>
        <p:spPr>
          <a:xfrm>
            <a:off x="3596382" y="3479800"/>
            <a:ext cx="304800" cy="152400"/>
          </a:xfrm>
          <a:prstGeom prst="rect">
            <a:avLst/>
          </a:prstGeom>
        </p:spPr>
      </p:pic>
      <p:sp>
        <p:nvSpPr>
          <p:cNvPr id="11" name="Shape 8"/>
          <p:cNvSpPr/>
          <p:nvPr/>
        </p:nvSpPr>
        <p:spPr>
          <a:xfrm>
            <a:off x="4028182" y="2203450"/>
            <a:ext cx="2892524" cy="2705100"/>
          </a:xfrm>
          <a:prstGeom prst="roundRect">
            <a:avLst>
              <a:gd name="adj" fmla="val 3756"/>
            </a:avLst>
          </a:prstGeom>
          <a:solidFill>
            <a:srgbClr val="13243A"/>
          </a:solidFill>
          <a:ln/>
        </p:spPr>
      </p:sp>
      <p:sp>
        <p:nvSpPr>
          <p:cNvPr id="12" name="Text 9"/>
          <p:cNvSpPr/>
          <p:nvPr/>
        </p:nvSpPr>
        <p:spPr>
          <a:xfrm>
            <a:off x="4231382" y="2406650"/>
            <a:ext cx="256070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9A6F"/>
                </a:solidFill>
                <a:latin typeface="IBM Plex Sans" pitchFamily="34" charset="0"/>
                <a:ea typeface="IBM Plex Sans" pitchFamily="34" charset="-122"/>
                <a:cs typeface="IBM Plex Sans" pitchFamily="34" charset="-120"/>
              </a:rPr>
              <a:t>KNOWLEDGE BASE</a:t>
            </a:r>
            <a:endParaRPr lang="en-US" sz="1200" dirty="0"/>
          </a:p>
        </p:txBody>
      </p:sp>
      <p:sp>
        <p:nvSpPr>
          <p:cNvPr id="13" name="Text 10"/>
          <p:cNvSpPr/>
          <p:nvPr/>
        </p:nvSpPr>
        <p:spPr>
          <a:xfrm>
            <a:off x="4231382" y="2705100"/>
            <a:ext cx="2560708"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5F3EE"/>
                </a:solidFill>
                <a:latin typeface="IBM Plex Sans" pitchFamily="34" charset="0"/>
                <a:ea typeface="IBM Plex Sans" pitchFamily="34" charset="-122"/>
                <a:cs typeface="IBM Plex Sans" pitchFamily="34" charset="-120"/>
              </a:rPr>
              <a:t>Each rule documents:</a:t>
            </a:r>
            <a:endParaRPr lang="en-US" sz="1300" dirty="0"/>
          </a:p>
        </p:txBody>
      </p:sp>
      <p:sp>
        <p:nvSpPr>
          <p:cNvPr id="14" name="Text 11"/>
          <p:cNvSpPr/>
          <p:nvPr/>
        </p:nvSpPr>
        <p:spPr>
          <a:xfrm>
            <a:off x="4231382" y="3016250"/>
            <a:ext cx="2560708"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5E0"/>
                </a:solidFill>
                <a:latin typeface="IBM Plex Sans" pitchFamily="34" charset="0"/>
                <a:ea typeface="IBM Plex Sans" pitchFamily="34" charset="-122"/>
                <a:cs typeface="IBM Plex Sans" pitchFamily="34" charset="-120"/>
              </a:rPr>
              <a:t>the exact policy words</a:t>
            </a:r>
            <a:endParaRPr lang="en-US" sz="1300" dirty="0"/>
          </a:p>
        </p:txBody>
      </p:sp>
      <p:sp>
        <p:nvSpPr>
          <p:cNvPr id="15" name="Text 12"/>
          <p:cNvSpPr/>
          <p:nvPr/>
        </p:nvSpPr>
        <p:spPr>
          <a:xfrm>
            <a:off x="4231382" y="3327400"/>
            <a:ext cx="2560708"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5E0"/>
                </a:solidFill>
                <a:latin typeface="IBM Plex Sans" pitchFamily="34" charset="0"/>
                <a:ea typeface="IBM Plex Sans" pitchFamily="34" charset="-122"/>
                <a:cs typeface="IBM Plex Sans" pitchFamily="34" charset="-120"/>
              </a:rPr>
              <a:t>page and document version</a:t>
            </a:r>
            <a:endParaRPr lang="en-US" sz="1300" dirty="0"/>
          </a:p>
        </p:txBody>
      </p:sp>
      <p:sp>
        <p:nvSpPr>
          <p:cNvPr id="16" name="Text 13"/>
          <p:cNvSpPr/>
          <p:nvPr/>
        </p:nvSpPr>
        <p:spPr>
          <a:xfrm>
            <a:off x="4231382" y="3638550"/>
            <a:ext cx="2560708"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5E0"/>
                </a:solidFill>
                <a:latin typeface="IBM Plex Sans" pitchFamily="34" charset="0"/>
                <a:ea typeface="IBM Plex Sans" pitchFamily="34" charset="-122"/>
                <a:cs typeface="IBM Plex Sans" pitchFamily="34" charset="-120"/>
              </a:rPr>
              <a:t>dates in force</a:t>
            </a:r>
            <a:endParaRPr lang="en-US" sz="1300" dirty="0"/>
          </a:p>
        </p:txBody>
      </p:sp>
      <p:sp>
        <p:nvSpPr>
          <p:cNvPr id="17" name="Text 14"/>
          <p:cNvSpPr/>
          <p:nvPr/>
        </p:nvSpPr>
        <p:spPr>
          <a:xfrm>
            <a:off x="4231382" y="3949700"/>
            <a:ext cx="2560708"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5E0"/>
                </a:solidFill>
                <a:latin typeface="IBM Plex Sans" pitchFamily="34" charset="0"/>
                <a:ea typeface="IBM Plex Sans" pitchFamily="34" charset="-122"/>
                <a:cs typeface="IBM Plex Sans" pitchFamily="34" charset="-120"/>
              </a:rPr>
              <a:t>who approved it</a:t>
            </a:r>
            <a:endParaRPr lang="en-US" sz="1300" dirty="0"/>
          </a:p>
        </p:txBody>
      </p:sp>
      <p:sp>
        <p:nvSpPr>
          <p:cNvPr id="18" name="Text 15"/>
          <p:cNvSpPr/>
          <p:nvPr/>
        </p:nvSpPr>
        <p:spPr>
          <a:xfrm>
            <a:off x="4231382" y="4260850"/>
            <a:ext cx="2560708"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5E0"/>
                </a:solidFill>
                <a:latin typeface="IBM Plex Sans" pitchFamily="34" charset="0"/>
                <a:ea typeface="IBM Plex Sans" pitchFamily="34" charset="-122"/>
                <a:cs typeface="IBM Plex Sans" pitchFamily="34" charset="-120"/>
              </a:rPr>
              <a:t>whether it can be checked on claims, and if not, why</a:t>
            </a:r>
            <a:endParaRPr lang="en-US" sz="1300" dirty="0"/>
          </a:p>
        </p:txBody>
      </p:sp>
      <p:pic>
        <p:nvPicPr>
          <p:cNvPr id="19" name="Image 1" descr="arrow-right">    </p:cNvPr>
          <p:cNvPicPr>
            <a:picLocks noChangeAspect="1"/>
          </p:cNvPicPr>
          <p:nvPr/>
        </p:nvPicPr>
        <p:blipFill>
          <a:blip r:embed="rId2"/>
          <a:srcRect l="0" r="0" t="0" b="0"/>
          <a:stretch/>
        </p:blipFill>
        <p:spPr>
          <a:xfrm>
            <a:off x="7047706" y="3479800"/>
            <a:ext cx="304800" cy="152400"/>
          </a:xfrm>
          <a:prstGeom prst="rect">
            <a:avLst/>
          </a:prstGeom>
        </p:spPr>
      </p:pic>
      <p:sp>
        <p:nvSpPr>
          <p:cNvPr id="20" name="Shape 16"/>
          <p:cNvSpPr/>
          <p:nvPr/>
        </p:nvSpPr>
        <p:spPr>
          <a:xfrm>
            <a:off x="7482681" y="2206625"/>
            <a:ext cx="3893344" cy="2698750"/>
          </a:xfrm>
          <a:prstGeom prst="roundRect">
            <a:avLst>
              <a:gd name="adj" fmla="val 3647"/>
            </a:avLst>
          </a:prstGeom>
          <a:solidFill>
            <a:srgbClr val="FCFBF8"/>
          </a:solidFill>
          <a:ln w="6350">
            <a:solidFill>
              <a:srgbClr val="DAD6CC"/>
            </a:solidFill>
            <a:prstDash val="solid"/>
          </a:ln>
        </p:spPr>
      </p:sp>
      <p:sp>
        <p:nvSpPr>
          <p:cNvPr id="21" name="Text 17"/>
          <p:cNvSpPr/>
          <p:nvPr/>
        </p:nvSpPr>
        <p:spPr>
          <a:xfrm>
            <a:off x="7689056" y="2413000"/>
            <a:ext cx="358501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USES</a:t>
            </a:r>
            <a:endParaRPr lang="en-US" sz="1200" dirty="0"/>
          </a:p>
        </p:txBody>
      </p:sp>
      <p:sp>
        <p:nvSpPr>
          <p:cNvPr id="22" name="Text 18"/>
          <p:cNvSpPr/>
          <p:nvPr/>
        </p:nvSpPr>
        <p:spPr>
          <a:xfrm>
            <a:off x="7689056" y="2714625"/>
            <a:ext cx="1171575"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Claim checks</a:t>
            </a:r>
            <a:endParaRPr lang="en-US" sz="1300" dirty="0"/>
          </a:p>
        </p:txBody>
      </p:sp>
      <p:sp>
        <p:nvSpPr>
          <p:cNvPr id="23" name="Shape 19"/>
          <p:cNvSpPr/>
          <p:nvPr/>
        </p:nvSpPr>
        <p:spPr>
          <a:xfrm>
            <a:off x="10681196" y="2698750"/>
            <a:ext cx="488454" cy="260350"/>
          </a:xfrm>
          <a:prstGeom prst="roundRect">
            <a:avLst>
              <a:gd name="adj" fmla="val 50000"/>
            </a:avLst>
          </a:prstGeom>
          <a:solidFill>
            <a:srgbClr val="DCEBE2"/>
          </a:solidFill>
          <a:ln/>
        </p:spPr>
      </p:sp>
      <p:sp>
        <p:nvSpPr>
          <p:cNvPr id="24" name="Text 20"/>
          <p:cNvSpPr/>
          <p:nvPr/>
        </p:nvSpPr>
        <p:spPr>
          <a:xfrm>
            <a:off x="10782796" y="2724150"/>
            <a:ext cx="33605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A3D"/>
                </a:solidFill>
                <a:latin typeface="IBM Plex Sans" pitchFamily="34" charset="0"/>
                <a:ea typeface="IBM Plex Sans" pitchFamily="34" charset="-122"/>
                <a:cs typeface="IBM Plex Sans" pitchFamily="34" charset="-120"/>
              </a:rPr>
              <a:t>Live</a:t>
            </a:r>
            <a:endParaRPr lang="en-US" sz="1200" dirty="0"/>
          </a:p>
        </p:txBody>
      </p:sp>
      <p:sp>
        <p:nvSpPr>
          <p:cNvPr id="25" name="Text 21"/>
          <p:cNvSpPr/>
          <p:nvPr/>
        </p:nvSpPr>
        <p:spPr>
          <a:xfrm>
            <a:off x="7689056" y="3051175"/>
            <a:ext cx="1110139"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Code lookup</a:t>
            </a:r>
            <a:endParaRPr lang="en-US" sz="1300" dirty="0"/>
          </a:p>
        </p:txBody>
      </p:sp>
      <p:sp>
        <p:nvSpPr>
          <p:cNvPr id="26" name="Shape 22"/>
          <p:cNvSpPr/>
          <p:nvPr/>
        </p:nvSpPr>
        <p:spPr>
          <a:xfrm>
            <a:off x="10681196" y="3035300"/>
            <a:ext cx="488454" cy="260350"/>
          </a:xfrm>
          <a:prstGeom prst="roundRect">
            <a:avLst>
              <a:gd name="adj" fmla="val 50000"/>
            </a:avLst>
          </a:prstGeom>
          <a:solidFill>
            <a:srgbClr val="DCEBE2"/>
          </a:solidFill>
          <a:ln/>
        </p:spPr>
      </p:sp>
      <p:sp>
        <p:nvSpPr>
          <p:cNvPr id="27" name="Text 23"/>
          <p:cNvSpPr/>
          <p:nvPr/>
        </p:nvSpPr>
        <p:spPr>
          <a:xfrm>
            <a:off x="10782796" y="3060700"/>
            <a:ext cx="33605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A3D"/>
                </a:solidFill>
                <a:latin typeface="IBM Plex Sans" pitchFamily="34" charset="0"/>
                <a:ea typeface="IBM Plex Sans" pitchFamily="34" charset="-122"/>
                <a:cs typeface="IBM Plex Sans" pitchFamily="34" charset="-120"/>
              </a:rPr>
              <a:t>Live</a:t>
            </a:r>
            <a:endParaRPr lang="en-US" sz="1200" dirty="0"/>
          </a:p>
        </p:txBody>
      </p:sp>
      <p:sp>
        <p:nvSpPr>
          <p:cNvPr id="28" name="Text 24"/>
          <p:cNvSpPr/>
          <p:nvPr/>
        </p:nvSpPr>
        <p:spPr>
          <a:xfrm>
            <a:off x="7689056" y="3387725"/>
            <a:ext cx="1840825"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Where sources differ</a:t>
            </a:r>
            <a:endParaRPr lang="en-US" sz="1300" dirty="0"/>
          </a:p>
        </p:txBody>
      </p:sp>
      <p:sp>
        <p:nvSpPr>
          <p:cNvPr id="29" name="Shape 25"/>
          <p:cNvSpPr/>
          <p:nvPr/>
        </p:nvSpPr>
        <p:spPr>
          <a:xfrm>
            <a:off x="10184805" y="3371850"/>
            <a:ext cx="984845" cy="260350"/>
          </a:xfrm>
          <a:prstGeom prst="roundRect">
            <a:avLst>
              <a:gd name="adj" fmla="val 50000"/>
            </a:avLst>
          </a:prstGeom>
          <a:solidFill>
            <a:srgbClr val="F3E3C3"/>
          </a:solidFill>
          <a:ln/>
        </p:spPr>
      </p:sp>
      <p:sp>
        <p:nvSpPr>
          <p:cNvPr id="30" name="Text 26"/>
          <p:cNvSpPr/>
          <p:nvPr/>
        </p:nvSpPr>
        <p:spPr>
          <a:xfrm>
            <a:off x="10286405" y="3397250"/>
            <a:ext cx="8324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A12"/>
                </a:solidFill>
                <a:latin typeface="IBM Plex Sans" pitchFamily="34" charset="0"/>
                <a:ea typeface="IBM Plex Sans" pitchFamily="34" charset="-122"/>
                <a:cs typeface="IBM Plex Sans" pitchFamily="34" charset="-120"/>
              </a:rPr>
              <a:t>Partly built</a:t>
            </a:r>
            <a:endParaRPr lang="en-US" sz="1200" dirty="0"/>
          </a:p>
        </p:txBody>
      </p:sp>
      <p:sp>
        <p:nvSpPr>
          <p:cNvPr id="31" name="Text 27"/>
          <p:cNvSpPr/>
          <p:nvPr/>
        </p:nvSpPr>
        <p:spPr>
          <a:xfrm>
            <a:off x="7689056" y="3724275"/>
            <a:ext cx="1834039"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Policy update review</a:t>
            </a:r>
            <a:endParaRPr lang="en-US" sz="1300" dirty="0"/>
          </a:p>
        </p:txBody>
      </p:sp>
      <p:sp>
        <p:nvSpPr>
          <p:cNvPr id="32" name="Shape 28"/>
          <p:cNvSpPr/>
          <p:nvPr/>
        </p:nvSpPr>
        <p:spPr>
          <a:xfrm>
            <a:off x="10681196" y="3708400"/>
            <a:ext cx="488454" cy="260350"/>
          </a:xfrm>
          <a:prstGeom prst="roundRect">
            <a:avLst>
              <a:gd name="adj" fmla="val 50000"/>
            </a:avLst>
          </a:prstGeom>
          <a:solidFill>
            <a:srgbClr val="DCEBE2"/>
          </a:solidFill>
          <a:ln/>
        </p:spPr>
      </p:sp>
      <p:sp>
        <p:nvSpPr>
          <p:cNvPr id="33" name="Text 29"/>
          <p:cNvSpPr/>
          <p:nvPr/>
        </p:nvSpPr>
        <p:spPr>
          <a:xfrm>
            <a:off x="10782796" y="3733800"/>
            <a:ext cx="33605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A3D"/>
                </a:solidFill>
                <a:latin typeface="IBM Plex Sans" pitchFamily="34" charset="0"/>
                <a:ea typeface="IBM Plex Sans" pitchFamily="34" charset="-122"/>
                <a:cs typeface="IBM Plex Sans" pitchFamily="34" charset="-120"/>
              </a:rPr>
              <a:t>Live</a:t>
            </a:r>
            <a:endParaRPr lang="en-US" sz="1200" dirty="0"/>
          </a:p>
        </p:txBody>
      </p:sp>
      <p:sp>
        <p:nvSpPr>
          <p:cNvPr id="34" name="Text 30"/>
          <p:cNvSpPr/>
          <p:nvPr/>
        </p:nvSpPr>
        <p:spPr>
          <a:xfrm>
            <a:off x="7689056" y="4060825"/>
            <a:ext cx="980599"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Policy Q&amp;A</a:t>
            </a:r>
            <a:endParaRPr lang="en-US" sz="1300" dirty="0"/>
          </a:p>
        </p:txBody>
      </p:sp>
      <p:sp>
        <p:nvSpPr>
          <p:cNvPr id="35" name="Shape 31"/>
          <p:cNvSpPr/>
          <p:nvPr/>
        </p:nvSpPr>
        <p:spPr>
          <a:xfrm>
            <a:off x="10634166" y="4044950"/>
            <a:ext cx="535484" cy="260350"/>
          </a:xfrm>
          <a:prstGeom prst="roundRect">
            <a:avLst>
              <a:gd name="adj" fmla="val 50000"/>
            </a:avLst>
          </a:prstGeom>
          <a:solidFill>
            <a:srgbClr val="E3E7EC"/>
          </a:solidFill>
          <a:ln/>
        </p:spPr>
      </p:sp>
      <p:sp>
        <p:nvSpPr>
          <p:cNvPr id="36" name="Text 32"/>
          <p:cNvSpPr/>
          <p:nvPr/>
        </p:nvSpPr>
        <p:spPr>
          <a:xfrm>
            <a:off x="10735766" y="4070350"/>
            <a:ext cx="38308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7"/>
                </a:solidFill>
                <a:latin typeface="IBM Plex Sans" pitchFamily="34" charset="0"/>
                <a:ea typeface="IBM Plex Sans" pitchFamily="34" charset="-122"/>
                <a:cs typeface="IBM Plex Sans" pitchFamily="34" charset="-120"/>
              </a:rPr>
              <a:t>Next</a:t>
            </a:r>
            <a:endParaRPr lang="en-US" sz="1200" dirty="0"/>
          </a:p>
        </p:txBody>
      </p:sp>
      <p:sp>
        <p:nvSpPr>
          <p:cNvPr id="37" name="Text 33"/>
          <p:cNvSpPr/>
          <p:nvPr/>
        </p:nvSpPr>
        <p:spPr>
          <a:xfrm>
            <a:off x="7689056" y="4397375"/>
            <a:ext cx="1965603"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Anomaly explanations</a:t>
            </a:r>
            <a:endParaRPr lang="en-US" sz="1300" dirty="0"/>
          </a:p>
        </p:txBody>
      </p:sp>
      <p:sp>
        <p:nvSpPr>
          <p:cNvPr id="38" name="Shape 34"/>
          <p:cNvSpPr/>
          <p:nvPr/>
        </p:nvSpPr>
        <p:spPr>
          <a:xfrm>
            <a:off x="10634166" y="4381500"/>
            <a:ext cx="535484" cy="260350"/>
          </a:xfrm>
          <a:prstGeom prst="roundRect">
            <a:avLst>
              <a:gd name="adj" fmla="val 50000"/>
            </a:avLst>
          </a:prstGeom>
          <a:solidFill>
            <a:srgbClr val="E3E7EC"/>
          </a:solidFill>
          <a:ln/>
        </p:spPr>
      </p:sp>
      <p:sp>
        <p:nvSpPr>
          <p:cNvPr id="39" name="Text 35"/>
          <p:cNvSpPr/>
          <p:nvPr/>
        </p:nvSpPr>
        <p:spPr>
          <a:xfrm>
            <a:off x="10735766" y="4406900"/>
            <a:ext cx="38308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7"/>
                </a:solidFill>
                <a:latin typeface="IBM Plex Sans" pitchFamily="34" charset="0"/>
                <a:ea typeface="IBM Plex Sans" pitchFamily="34" charset="-122"/>
                <a:cs typeface="IBM Plex Sans" pitchFamily="34" charset="-120"/>
              </a:rPr>
              <a:t>Next</a:t>
            </a:r>
            <a:endParaRPr lang="en-US" sz="1200" dirty="0"/>
          </a:p>
        </p:txBody>
      </p:sp>
      <p:sp>
        <p:nvSpPr>
          <p:cNvPr id="40" name="Text 36"/>
          <p:cNvSpPr/>
          <p:nvPr/>
        </p:nvSpPr>
        <p:spPr>
          <a:xfrm>
            <a:off x="812800" y="51371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43A"/>
                </a:solidFill>
                <a:latin typeface="IBM Plex Sans" pitchFamily="34" charset="0"/>
                <a:ea typeface="IBM Plex Sans" pitchFamily="34" charset="-122"/>
                <a:cs typeface="IBM Plex Sans" pitchFamily="34" charset="-120"/>
              </a:rPr>
              <a:t>AI proposes rules. Validation controls test them. People approve them. Approved checks execute without AI.</a:t>
            </a:r>
            <a:endParaRPr lang="en-US" sz="1500" dirty="0"/>
          </a:p>
        </p:txBody>
      </p:sp>
      <p:sp>
        <p:nvSpPr>
          <p:cNvPr id="41" name="Text 37"/>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42" name="Text 38"/>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16396"/>
          </a:xfrm>
          <a:prstGeom prst="rect">
            <a:avLst/>
          </a:prstGeom>
          <a:noFill/>
          <a:ln/>
        </p:spPr>
        <p:txBody>
          <a:bodyPr wrap="square" lIns="0" tIns="0" rIns="0" bIns="0" rtlCol="0" anchor="t">
            <a:normAutofit/>
          </a:bodyPr>
          <a:lstStyle/>
          <a:p>
            <a:pPr algn="l" indent="0" marL="0">
              <a:lnSpc>
                <a:spcPts val="1549"/>
              </a:lnSpc>
              <a:buNone/>
            </a:pPr>
            <a:r>
              <a:rPr lang="en-US" sz="1106" b="1" spc="150" kern="0" dirty="0">
                <a:solidFill>
                  <a:srgbClr val="2A5D7C"/>
                </a:solidFill>
                <a:latin typeface="IBM Plex Sans" pitchFamily="34" charset="0"/>
                <a:ea typeface="IBM Plex Sans" pitchFamily="34" charset="-122"/>
                <a:cs typeface="IBM Plex Sans" pitchFamily="34" charset="-120"/>
              </a:rPr>
              <a:t>THE KNOWLEDGE BASE: ONE REAL RULE</a:t>
            </a:r>
            <a:endParaRPr lang="en-US" sz="1106" dirty="0"/>
          </a:p>
        </p:txBody>
      </p:sp>
      <p:sp>
        <p:nvSpPr>
          <p:cNvPr id="3" name="Text 1"/>
          <p:cNvSpPr/>
          <p:nvPr>
            <p:ph type="title"/>
          </p:nvPr>
        </p:nvSpPr>
        <p:spPr>
          <a:xfrm>
            <a:off x="812800" y="1105396"/>
            <a:ext cx="10883392" cy="801191"/>
          </a:xfrm>
          <a:prstGeom prst="rect">
            <a:avLst/>
          </a:prstGeom>
          <a:noFill/>
          <a:ln/>
        </p:spPr>
        <p:txBody>
          <a:bodyPr wrap="square" lIns="0" tIns="0" rIns="0" bIns="0" rtlCol="0" anchor="t">
            <a:normAutofit/>
          </a:bodyPr>
          <a:lstStyle/>
          <a:p>
            <a:pPr algn="l" indent="0" marL="0">
              <a:lnSpc>
                <a:spcPts val="3098"/>
              </a:lnSpc>
              <a:buNone/>
            </a:pPr>
            <a:r>
              <a:rPr lang="en-US" sz="2766" b="0" i="0" dirty="0">
                <a:solidFill>
                  <a:srgbClr val="13243A"/>
                </a:solidFill>
                <a:latin typeface="Source Serif 4" pitchFamily="18" charset="0"/>
                <a:ea typeface="Source Serif 4" pitchFamily="18" charset="-122"/>
                <a:cs typeface="Source Serif 4" pitchFamily="18" charset="-120"/>
              </a:rPr>
              <a:t>From published policy to a traceable rule and a claim-level review.</a:t>
            </a:r>
            <a:endParaRPr lang="en-US" sz="2766" dirty="0"/>
          </a:p>
        </p:txBody>
      </p:sp>
      <p:sp>
        <p:nvSpPr>
          <p:cNvPr id="4" name="Shape 2"/>
          <p:cNvSpPr/>
          <p:nvPr/>
        </p:nvSpPr>
        <p:spPr>
          <a:xfrm>
            <a:off x="815975" y="2189163"/>
            <a:ext cx="3109416" cy="3099594"/>
          </a:xfrm>
          <a:prstGeom prst="roundRect">
            <a:avLst>
              <a:gd name="adj" fmla="val 3175"/>
            </a:avLst>
          </a:prstGeom>
          <a:solidFill>
            <a:srgbClr val="FCFBF8"/>
          </a:solidFill>
          <a:ln w="6350">
            <a:solidFill>
              <a:srgbClr val="DAD6CC"/>
            </a:solidFill>
            <a:prstDash val="solid"/>
          </a:ln>
        </p:spPr>
      </p:sp>
      <p:sp>
        <p:nvSpPr>
          <p:cNvPr id="5" name="Text 3"/>
          <p:cNvSpPr/>
          <p:nvPr/>
        </p:nvSpPr>
        <p:spPr>
          <a:xfrm>
            <a:off x="1047750" y="2420938"/>
            <a:ext cx="272524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1 · THE PAGE</a:t>
            </a:r>
            <a:endParaRPr lang="en-US" sz="1200" dirty="0"/>
          </a:p>
        </p:txBody>
      </p:sp>
      <p:sp>
        <p:nvSpPr>
          <p:cNvPr id="6" name="Text 4"/>
          <p:cNvSpPr/>
          <p:nvPr/>
        </p:nvSpPr>
        <p:spPr>
          <a:xfrm>
            <a:off x="1047750" y="2744788"/>
            <a:ext cx="2725242" cy="533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43A"/>
                </a:solidFill>
                <a:latin typeface="IBM Plex Sans" pitchFamily="34" charset="0"/>
                <a:ea typeface="IBM Plex Sans" pitchFamily="34" charset="-122"/>
                <a:cs typeface="IBM Plex Sans" pitchFamily="34" charset="-120"/>
              </a:rPr>
              <a:t>Billing manual, Chapter 10, page 9</a:t>
            </a:r>
            <a:endParaRPr lang="en-US" sz="1700" dirty="0"/>
          </a:p>
        </p:txBody>
      </p:sp>
      <p:sp>
        <p:nvSpPr>
          <p:cNvPr id="7" name="Text 5"/>
          <p:cNvSpPr/>
          <p:nvPr/>
        </p:nvSpPr>
        <p:spPr>
          <a:xfrm>
            <a:off x="1047750" y="3367088"/>
            <a:ext cx="2725242" cy="12636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Community health worker education (98960, 98961, 98962): together, at most 4 units a day and 24 a month. More needs prior authorization.</a:t>
            </a:r>
            <a:endParaRPr lang="en-US" sz="1400" dirty="0"/>
          </a:p>
        </p:txBody>
      </p:sp>
      <p:pic>
        <p:nvPicPr>
          <p:cNvPr id="8" name="Image 0" descr="arrow-right">    </p:cNvPr>
          <p:cNvPicPr>
            <a:picLocks noChangeAspect="1"/>
          </p:cNvPicPr>
          <p:nvPr/>
        </p:nvPicPr>
        <p:blipFill>
          <a:blip r:embed="rId1"/>
          <a:srcRect l="0" r="0" t="0" b="0"/>
          <a:stretch/>
        </p:blipFill>
        <p:spPr>
          <a:xfrm>
            <a:off x="4055566" y="3650059"/>
            <a:ext cx="355600" cy="177800"/>
          </a:xfrm>
          <a:prstGeom prst="rect">
            <a:avLst/>
          </a:prstGeom>
        </p:spPr>
      </p:pic>
      <p:sp>
        <p:nvSpPr>
          <p:cNvPr id="9" name="Shape 6"/>
          <p:cNvSpPr/>
          <p:nvPr/>
        </p:nvSpPr>
        <p:spPr>
          <a:xfrm>
            <a:off x="4541341" y="2189163"/>
            <a:ext cx="3109416" cy="3099594"/>
          </a:xfrm>
          <a:prstGeom prst="roundRect">
            <a:avLst>
              <a:gd name="adj" fmla="val 3175"/>
            </a:avLst>
          </a:prstGeom>
          <a:solidFill>
            <a:srgbClr val="FCFBF8"/>
          </a:solidFill>
          <a:ln w="6350">
            <a:solidFill>
              <a:srgbClr val="DAD6CC"/>
            </a:solidFill>
            <a:prstDash val="solid"/>
          </a:ln>
        </p:spPr>
      </p:sp>
      <p:sp>
        <p:nvSpPr>
          <p:cNvPr id="10" name="Text 7"/>
          <p:cNvSpPr/>
          <p:nvPr/>
        </p:nvSpPr>
        <p:spPr>
          <a:xfrm>
            <a:off x="4773116" y="2420938"/>
            <a:ext cx="2725242" cy="211634"/>
          </a:xfrm>
          <a:prstGeom prst="rect">
            <a:avLst/>
          </a:prstGeom>
          <a:noFill/>
          <a:ln/>
        </p:spPr>
        <p:txBody>
          <a:bodyPr wrap="square" lIns="0" tIns="0" rIns="0" bIns="0" rtlCol="0" anchor="t">
            <a:normAutofit/>
          </a:bodyPr>
          <a:lstStyle/>
          <a:p>
            <a:pPr algn="l" indent="0" marL="0">
              <a:lnSpc>
                <a:spcPts val="1496"/>
              </a:lnSpc>
              <a:buNone/>
            </a:pPr>
            <a:r>
              <a:rPr lang="en-US" sz="1069" b="1" spc="100" kern="0" dirty="0">
                <a:solidFill>
                  <a:srgbClr val="2A5D7C"/>
                </a:solidFill>
                <a:latin typeface="IBM Plex Sans" pitchFamily="34" charset="0"/>
                <a:ea typeface="IBM Plex Sans" pitchFamily="34" charset="-122"/>
                <a:cs typeface="IBM Plex Sans" pitchFamily="34" charset="-120"/>
              </a:rPr>
              <a:t>2 · THE SIGNED RULE</a:t>
            </a:r>
            <a:endParaRPr lang="en-US" sz="1069" dirty="0"/>
          </a:p>
        </p:txBody>
      </p:sp>
      <p:sp>
        <p:nvSpPr>
          <p:cNvPr id="11" name="Text 8"/>
          <p:cNvSpPr/>
          <p:nvPr/>
        </p:nvSpPr>
        <p:spPr>
          <a:xfrm>
            <a:off x="4773116" y="2721471"/>
            <a:ext cx="2725242" cy="476945"/>
          </a:xfrm>
          <a:prstGeom prst="rect">
            <a:avLst/>
          </a:prstGeom>
          <a:noFill/>
          <a:ln/>
        </p:spPr>
        <p:txBody>
          <a:bodyPr wrap="square" lIns="0" tIns="0" rIns="0" bIns="0" rtlCol="0" anchor="t">
            <a:normAutofit/>
          </a:bodyPr>
          <a:lstStyle/>
          <a:p>
            <a:pPr algn="l" indent="0" marL="0">
              <a:lnSpc>
                <a:spcPts val="1798"/>
              </a:lnSpc>
              <a:buNone/>
            </a:pPr>
            <a:r>
              <a:rPr lang="en-US" sz="1498" b="1" dirty="0">
                <a:solidFill>
                  <a:srgbClr val="13243A"/>
                </a:solidFill>
                <a:latin typeface="IBM Plex Sans" pitchFamily="34" charset="0"/>
                <a:ea typeface="IBM Plex Sans" pitchFamily="34" charset="-122"/>
                <a:cs typeface="IBM Plex Sans" pitchFamily="34" charset="-120"/>
              </a:rPr>
              <a:t>Documented in the knowledge base</a:t>
            </a:r>
            <a:endParaRPr lang="en-US" sz="1498" dirty="0"/>
          </a:p>
        </p:txBody>
      </p:sp>
      <p:sp>
        <p:nvSpPr>
          <p:cNvPr id="12" name="Text 9"/>
          <p:cNvSpPr/>
          <p:nvPr/>
        </p:nvSpPr>
        <p:spPr>
          <a:xfrm>
            <a:off x="4773116" y="3287316"/>
            <a:ext cx="2725242" cy="465733"/>
          </a:xfrm>
          <a:prstGeom prst="rect">
            <a:avLst/>
          </a:prstGeom>
          <a:noFill/>
          <a:ln/>
        </p:spPr>
        <p:txBody>
          <a:bodyPr wrap="square" lIns="0" tIns="0" rIns="0" bIns="0" rtlCol="0" anchor="t">
            <a:normAutofit/>
          </a:bodyPr>
          <a:lstStyle/>
          <a:p>
            <a:pPr algn="l" indent="0" marL="0">
              <a:lnSpc>
                <a:spcPts val="1746"/>
              </a:lnSpc>
              <a:buNone/>
            </a:pPr>
            <a:r>
              <a:rPr lang="en-US" sz="1247" b="1" dirty="0">
                <a:solidFill>
                  <a:srgbClr val="1E2A38"/>
                </a:solidFill>
                <a:latin typeface="IBM Plex Sans" pitchFamily="34" charset="0"/>
                <a:ea typeface="IBM Plex Sans" pitchFamily="34" charset="-122"/>
                <a:cs typeface="IBM Plex Sans" pitchFamily="34" charset="-120"/>
              </a:rPr>
              <a:t>Source:</a:t>
            </a:r>
            <a:r>
              <a:rPr lang="en-US" sz="1247" dirty="0">
                <a:solidFill>
                  <a:srgbClr val="1E2A38"/>
                </a:solidFill>
                <a:latin typeface="IBM Plex Sans" pitchFamily="34" charset="0"/>
                <a:ea typeface="IBM Plex Sans" pitchFamily="34" charset="-122"/>
                <a:cs typeface="IBM Plex Sans" pitchFamily="34" charset="-120"/>
              </a:rPr>
              <a:t> Ch. 10, p. 9, document version on file</a:t>
            </a:r>
            <a:endParaRPr lang="en-US" sz="1247" dirty="0"/>
          </a:p>
        </p:txBody>
      </p:sp>
      <p:sp>
        <p:nvSpPr>
          <p:cNvPr id="13" name="Text 10"/>
          <p:cNvSpPr/>
          <p:nvPr/>
        </p:nvSpPr>
        <p:spPr>
          <a:xfrm>
            <a:off x="4773116" y="3841948"/>
            <a:ext cx="2725242" cy="685800"/>
          </a:xfrm>
          <a:prstGeom prst="rect">
            <a:avLst/>
          </a:prstGeom>
          <a:noFill/>
          <a:ln/>
        </p:spPr>
        <p:txBody>
          <a:bodyPr wrap="square" lIns="0" tIns="0" rIns="0" bIns="0" rtlCol="0" anchor="t">
            <a:normAutofit/>
          </a:bodyPr>
          <a:lstStyle/>
          <a:p>
            <a:pPr algn="l" indent="0" marL="0">
              <a:lnSpc>
                <a:spcPts val="1936"/>
              </a:lnSpc>
              <a:buNone/>
            </a:pPr>
            <a:r>
              <a:rPr lang="en-US" sz="1383" b="1" dirty="0">
                <a:solidFill>
                  <a:srgbClr val="1E2A38"/>
                </a:solidFill>
                <a:latin typeface="IBM Plex Sans" pitchFamily="34" charset="0"/>
                <a:ea typeface="IBM Plex Sans" pitchFamily="34" charset="-122"/>
                <a:cs typeface="IBM Plex Sans" pitchFamily="34" charset="-120"/>
              </a:rPr>
              <a:t>In force:</a:t>
            </a:r>
            <a:r>
              <a:rPr lang="en-US" sz="1383" dirty="0">
                <a:solidFill>
                  <a:srgbClr val="1E2A38"/>
                </a:solidFill>
                <a:latin typeface="IBM Plex Sans" pitchFamily="34" charset="0"/>
                <a:ea typeface="IBM Plex Sans" pitchFamily="34" charset="-122"/>
                <a:cs typeface="IBM Plex Sans" pitchFamily="34" charset="-120"/>
              </a:rPr>
              <a:t> daily cap from Apr 2023; monthly cap from Jul 2024</a:t>
            </a:r>
            <a:endParaRPr lang="en-US" sz="1383" dirty="0"/>
          </a:p>
        </p:txBody>
      </p:sp>
      <p:sp>
        <p:nvSpPr>
          <p:cNvPr id="14" name="Text 11"/>
          <p:cNvSpPr/>
          <p:nvPr/>
        </p:nvSpPr>
        <p:spPr>
          <a:xfrm>
            <a:off x="4773116" y="4616648"/>
            <a:ext cx="2725242" cy="465733"/>
          </a:xfrm>
          <a:prstGeom prst="rect">
            <a:avLst/>
          </a:prstGeom>
          <a:noFill/>
          <a:ln/>
        </p:spPr>
        <p:txBody>
          <a:bodyPr wrap="square" lIns="0" tIns="0" rIns="0" bIns="0" rtlCol="0" anchor="t">
            <a:normAutofit/>
          </a:bodyPr>
          <a:lstStyle/>
          <a:p>
            <a:pPr algn="l" indent="0" marL="0">
              <a:lnSpc>
                <a:spcPts val="1746"/>
              </a:lnSpc>
              <a:buNone/>
            </a:pPr>
            <a:r>
              <a:rPr lang="en-US" sz="1247" b="1" dirty="0">
                <a:solidFill>
                  <a:srgbClr val="1E2A38"/>
                </a:solidFill>
                <a:latin typeface="IBM Plex Sans" pitchFamily="34" charset="0"/>
                <a:ea typeface="IBM Plex Sans" pitchFamily="34" charset="-122"/>
                <a:cs typeface="IBM Plex Sans" pitchFamily="34" charset="-120"/>
              </a:rPr>
              <a:t>Signed by:</a:t>
            </a:r>
            <a:r>
              <a:rPr lang="en-US" sz="1247" dirty="0">
                <a:solidFill>
                  <a:srgbClr val="1E2A38"/>
                </a:solidFill>
                <a:latin typeface="IBM Plex Sans" pitchFamily="34" charset="0"/>
                <a:ea typeface="IBM Plex Sans" pitchFamily="34" charset="-122"/>
                <a:cs typeface="IBM Plex Sans" pitchFamily="34" charset="-120"/>
              </a:rPr>
              <a:t> project lead (AHCCCS expert sign-off next)</a:t>
            </a:r>
            <a:endParaRPr lang="en-US" sz="1247" dirty="0"/>
          </a:p>
        </p:txBody>
      </p:sp>
      <p:pic>
        <p:nvPicPr>
          <p:cNvPr id="15" name="Image 1" descr="arrow-right">    </p:cNvPr>
          <p:cNvPicPr>
            <a:picLocks noChangeAspect="1"/>
          </p:cNvPicPr>
          <p:nvPr/>
        </p:nvPicPr>
        <p:blipFill>
          <a:blip r:embed="rId2"/>
          <a:srcRect l="0" r="0" t="0" b="0"/>
          <a:stretch/>
        </p:blipFill>
        <p:spPr>
          <a:xfrm>
            <a:off x="7780933" y="3650059"/>
            <a:ext cx="355600" cy="177800"/>
          </a:xfrm>
          <a:prstGeom prst="rect">
            <a:avLst/>
          </a:prstGeom>
        </p:spPr>
      </p:pic>
      <p:sp>
        <p:nvSpPr>
          <p:cNvPr id="16" name="Shape 12"/>
          <p:cNvSpPr/>
          <p:nvPr/>
        </p:nvSpPr>
        <p:spPr>
          <a:xfrm>
            <a:off x="8266708" y="2189163"/>
            <a:ext cx="3109416" cy="3099594"/>
          </a:xfrm>
          <a:prstGeom prst="roundRect">
            <a:avLst>
              <a:gd name="adj" fmla="val 3175"/>
            </a:avLst>
          </a:prstGeom>
          <a:solidFill>
            <a:srgbClr val="FCFBF8"/>
          </a:solidFill>
          <a:ln w="6350">
            <a:solidFill>
              <a:srgbClr val="DAD6CC"/>
            </a:solidFill>
            <a:prstDash val="solid"/>
          </a:ln>
        </p:spPr>
      </p:sp>
      <p:sp>
        <p:nvSpPr>
          <p:cNvPr id="17" name="Text 13"/>
          <p:cNvSpPr/>
          <p:nvPr/>
        </p:nvSpPr>
        <p:spPr>
          <a:xfrm>
            <a:off x="8498483" y="2420938"/>
            <a:ext cx="2725242"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D7C"/>
                </a:solidFill>
                <a:latin typeface="IBM Plex Sans" pitchFamily="34" charset="0"/>
                <a:ea typeface="IBM Plex Sans" pitchFamily="34" charset="-122"/>
                <a:cs typeface="IBM Plex Sans" pitchFamily="34" charset="-120"/>
              </a:rPr>
              <a:t>3 · CLAIM-LEVEL CHECK</a:t>
            </a:r>
            <a:endParaRPr lang="en-US" sz="1200" dirty="0"/>
          </a:p>
        </p:txBody>
      </p:sp>
      <p:sp>
        <p:nvSpPr>
          <p:cNvPr id="18" name="Text 14"/>
          <p:cNvSpPr/>
          <p:nvPr/>
        </p:nvSpPr>
        <p:spPr>
          <a:xfrm>
            <a:off x="8498483" y="2744788"/>
            <a:ext cx="2725242" cy="533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43A"/>
                </a:solidFill>
                <a:latin typeface="IBM Plex Sans" pitchFamily="34" charset="0"/>
                <a:ea typeface="IBM Plex Sans" pitchFamily="34" charset="-122"/>
                <a:cs typeface="IBM Plex Sans" pitchFamily="34" charset="-120"/>
              </a:rPr>
              <a:t>Evaluates paid claims for these codes</a:t>
            </a:r>
            <a:endParaRPr lang="en-US" sz="1700" dirty="0"/>
          </a:p>
        </p:txBody>
      </p:sp>
      <p:sp>
        <p:nvSpPr>
          <p:cNvPr id="19" name="Text 15"/>
          <p:cNvSpPr/>
          <p:nvPr/>
        </p:nvSpPr>
        <p:spPr>
          <a:xfrm>
            <a:off x="8498483" y="3367088"/>
            <a:ext cx="2725242" cy="7683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Identifies days above 4 units or months above 24 for further authorization review.</a:t>
            </a:r>
            <a:endParaRPr lang="en-US" sz="1400" dirty="0"/>
          </a:p>
        </p:txBody>
      </p:sp>
      <p:sp>
        <p:nvSpPr>
          <p:cNvPr id="20" name="Shape 16"/>
          <p:cNvSpPr/>
          <p:nvPr/>
        </p:nvSpPr>
        <p:spPr>
          <a:xfrm>
            <a:off x="8498483" y="4224338"/>
            <a:ext cx="972443" cy="311150"/>
          </a:xfrm>
          <a:prstGeom prst="roundRect">
            <a:avLst>
              <a:gd name="adj" fmla="val 50000"/>
            </a:avLst>
          </a:prstGeom>
          <a:solidFill>
            <a:srgbClr val="DCEBE2"/>
          </a:solidFill>
          <a:ln/>
        </p:spPr>
      </p:sp>
      <p:sp>
        <p:nvSpPr>
          <p:cNvPr id="21" name="Text 17"/>
          <p:cNvSpPr/>
          <p:nvPr/>
        </p:nvSpPr>
        <p:spPr>
          <a:xfrm>
            <a:off x="8625483" y="4275138"/>
            <a:ext cx="76924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A3D"/>
                </a:solidFill>
                <a:latin typeface="IBM Plex Sans" pitchFamily="34" charset="0"/>
                <a:ea typeface="IBM Plex Sans" pitchFamily="34" charset="-122"/>
                <a:cs typeface="IBM Plex Sans" pitchFamily="34" charset="-120"/>
              </a:rPr>
              <a:t>Live today</a:t>
            </a:r>
            <a:endParaRPr lang="en-US" sz="1200" dirty="0"/>
          </a:p>
        </p:txBody>
      </p:sp>
      <p:sp>
        <p:nvSpPr>
          <p:cNvPr id="22" name="Text 18"/>
          <p:cNvSpPr/>
          <p:nvPr/>
        </p:nvSpPr>
        <p:spPr>
          <a:xfrm>
            <a:off x="812800" y="5596731"/>
            <a:ext cx="10883392" cy="270570"/>
          </a:xfrm>
          <a:prstGeom prst="rect">
            <a:avLst/>
          </a:prstGeom>
          <a:noFill/>
          <a:ln/>
        </p:spPr>
        <p:txBody>
          <a:bodyPr wrap="square" lIns="0" tIns="0" rIns="0" bIns="0" rtlCol="0" anchor="t">
            <a:normAutofit/>
          </a:bodyPr>
          <a:lstStyle/>
          <a:p>
            <a:pPr algn="l" indent="0" marL="0">
              <a:lnSpc>
                <a:spcPts val="1995"/>
              </a:lnSpc>
              <a:buNone/>
            </a:pPr>
            <a:r>
              <a:rPr lang="en-US" sz="1425" dirty="0">
                <a:solidFill>
                  <a:srgbClr val="3E4A57"/>
                </a:solidFill>
                <a:latin typeface="IBM Plex Sans" pitchFamily="34" charset="0"/>
                <a:ea typeface="IBM Plex Sans" pitchFamily="34" charset="-122"/>
                <a:cs typeface="IBM Plex Sans" pitchFamily="34" charset="-120"/>
              </a:rPr>
              <a:t>AI proposes; a reviewer approves. Checks use the policy version applicable to the service date.</a:t>
            </a:r>
            <a:endParaRPr lang="en-US" sz="1425" dirty="0"/>
          </a:p>
        </p:txBody>
      </p:sp>
      <p:sp>
        <p:nvSpPr>
          <p:cNvPr id="23" name="Text 19"/>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24" name="Text 20"/>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THE KNOWLEDGE BASE: PEOPLE DECIDE</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Human review is essential: 24 proposed checks were held back before deployment.</a:t>
            </a:r>
            <a:endParaRPr lang="en-US" sz="3000" dirty="0"/>
          </a:p>
        </p:txBody>
      </p:sp>
      <p:sp>
        <p:nvSpPr>
          <p:cNvPr id="4" name="Shape 2"/>
          <p:cNvSpPr/>
          <p:nvPr/>
        </p:nvSpPr>
        <p:spPr>
          <a:xfrm>
            <a:off x="815975" y="2181225"/>
            <a:ext cx="6084590" cy="2616200"/>
          </a:xfrm>
          <a:prstGeom prst="roundRect">
            <a:avLst>
              <a:gd name="adj" fmla="val 3762"/>
            </a:avLst>
          </a:prstGeom>
          <a:solidFill>
            <a:srgbClr val="FCFBF8"/>
          </a:solidFill>
          <a:ln w="6350">
            <a:solidFill>
              <a:srgbClr val="DAD6CC"/>
            </a:solidFill>
            <a:prstDash val="solid"/>
          </a:ln>
        </p:spPr>
      </p:sp>
      <p:sp>
        <p:nvSpPr>
          <p:cNvPr id="5" name="Text 3"/>
          <p:cNvSpPr/>
          <p:nvPr/>
        </p:nvSpPr>
        <p:spPr>
          <a:xfrm>
            <a:off x="1073150" y="2438400"/>
            <a:ext cx="573734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43A"/>
                </a:solidFill>
                <a:latin typeface="IBM Plex Sans" pitchFamily="34" charset="0"/>
                <a:ea typeface="IBM Plex Sans" pitchFamily="34" charset="-122"/>
                <a:cs typeface="IBM Plex Sans" pitchFamily="34" charset="-120"/>
              </a:rPr>
              <a:t>289 rules proposed by AI from 36 policy files</a:t>
            </a:r>
            <a:endParaRPr lang="en-US" sz="1500" dirty="0"/>
          </a:p>
        </p:txBody>
      </p:sp>
      <p:sp>
        <p:nvSpPr>
          <p:cNvPr id="6" name="Shape 4"/>
          <p:cNvSpPr/>
          <p:nvPr/>
        </p:nvSpPr>
        <p:spPr>
          <a:xfrm>
            <a:off x="1073150" y="2857500"/>
            <a:ext cx="1917601" cy="355600"/>
          </a:xfrm>
          <a:custGeom>
            <a:avLst/>
            <a:gdLst/>
            <a:ahLst/>
            <a:cxnLst/>
            <a:rect l="l" t="t" r="r" b="b"/>
            <a:pathLst>
              <a:path w="1917601" h="355600">
                <a:moveTo>
                  <a:pt x="0" y="50800"/>
                </a:moveTo>
                <a:arcTo hR="50800" wR="50800" stAng="10800000" swAng="5400000"/>
                <a:lnTo>
                  <a:pt x="1917601" y="0"/>
                </a:lnTo>
                <a:lnTo>
                  <a:pt x="1917601" y="355600"/>
                </a:lnTo>
                <a:lnTo>
                  <a:pt x="50800" y="355600"/>
                </a:lnTo>
                <a:arcTo hR="50800" wR="50800" stAng="5400000" swAng="5400000"/>
                <a:close/>
              </a:path>
            </a:pathLst>
          </a:custGeom>
          <a:solidFill>
            <a:srgbClr val="2F7A55"/>
          </a:solidFill>
          <a:ln/>
        </p:spPr>
      </p:sp>
      <p:sp>
        <p:nvSpPr>
          <p:cNvPr id="7" name="Shape 5"/>
          <p:cNvSpPr/>
          <p:nvPr/>
        </p:nvSpPr>
        <p:spPr>
          <a:xfrm>
            <a:off x="2990751" y="2857500"/>
            <a:ext cx="3043833" cy="355600"/>
          </a:xfrm>
          <a:prstGeom prst="rect">
            <a:avLst/>
          </a:prstGeom>
          <a:solidFill>
            <a:srgbClr val="2A5D7C"/>
          </a:solidFill>
          <a:ln/>
        </p:spPr>
      </p:sp>
      <p:sp>
        <p:nvSpPr>
          <p:cNvPr id="8" name="Shape 6"/>
          <p:cNvSpPr/>
          <p:nvPr/>
        </p:nvSpPr>
        <p:spPr>
          <a:xfrm>
            <a:off x="6034584" y="2857500"/>
            <a:ext cx="608806" cy="355600"/>
          </a:xfrm>
          <a:custGeom>
            <a:avLst/>
            <a:gdLst/>
            <a:ahLst/>
            <a:cxnLst/>
            <a:rect l="l" t="t" r="r" b="b"/>
            <a:pathLst>
              <a:path w="608806" h="355600">
                <a:moveTo>
                  <a:pt x="558006" y="0"/>
                </a:moveTo>
                <a:arcTo hR="50800" wR="50800" stAng="16200000" swAng="5400000"/>
                <a:lnTo>
                  <a:pt x="608806" y="304800"/>
                </a:lnTo>
                <a:arcTo hR="50800" wR="50800" stAng="0" swAng="5400000"/>
                <a:lnTo>
                  <a:pt x="0" y="355600"/>
                </a:lnTo>
                <a:lnTo>
                  <a:pt x="0" y="0"/>
                </a:lnTo>
                <a:close/>
              </a:path>
            </a:pathLst>
          </a:custGeom>
          <a:solidFill>
            <a:srgbClr val="B04A26"/>
          </a:solidFill>
          <a:ln/>
        </p:spPr>
      </p:sp>
      <p:sp>
        <p:nvSpPr>
          <p:cNvPr id="9" name="Text 7"/>
          <p:cNvSpPr/>
          <p:nvPr/>
        </p:nvSpPr>
        <p:spPr>
          <a:xfrm>
            <a:off x="1073150" y="3365500"/>
            <a:ext cx="2041922"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7A55"/>
                </a:solidFill>
                <a:latin typeface="IBM Plex Sans" pitchFamily="34" charset="0"/>
                <a:ea typeface="IBM Plex Sans" pitchFamily="34" charset="-122"/>
                <a:cs typeface="IBM Plex Sans" pitchFamily="34" charset="-120"/>
              </a:rPr>
              <a:t>63</a:t>
            </a:r>
            <a:r>
              <a:rPr lang="en-US" sz="1400" dirty="0">
                <a:solidFill>
                  <a:srgbClr val="1E2A38"/>
                </a:solidFill>
                <a:latin typeface="IBM Plex Sans" pitchFamily="34" charset="0"/>
                <a:ea typeface="IBM Plex Sans" pitchFamily="34" charset="-122"/>
                <a:cs typeface="IBM Plex Sans" pitchFamily="34" charset="-120"/>
              </a:rPr>
              <a:t> approved as written</a:t>
            </a:r>
            <a:endParaRPr lang="en-US" sz="1400" dirty="0"/>
          </a:p>
        </p:txBody>
      </p:sp>
      <p:sp>
        <p:nvSpPr>
          <p:cNvPr id="10" name="Text 8"/>
          <p:cNvSpPr/>
          <p:nvPr/>
        </p:nvSpPr>
        <p:spPr>
          <a:xfrm>
            <a:off x="3115072" y="3365500"/>
            <a:ext cx="1332309"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5D7C"/>
                </a:solidFill>
                <a:latin typeface="IBM Plex Sans" pitchFamily="34" charset="0"/>
                <a:ea typeface="IBM Plex Sans" pitchFamily="34" charset="-122"/>
                <a:cs typeface="IBM Plex Sans" pitchFamily="34" charset="-120"/>
              </a:rPr>
              <a:t>206</a:t>
            </a:r>
            <a:r>
              <a:rPr lang="en-US" sz="1400" dirty="0">
                <a:solidFill>
                  <a:srgbClr val="1E2A38"/>
                </a:solidFill>
                <a:latin typeface="IBM Plex Sans" pitchFamily="34" charset="0"/>
                <a:ea typeface="IBM Plex Sans" pitchFamily="34" charset="-122"/>
                <a:cs typeface="IBM Plex Sans" pitchFamily="34" charset="-120"/>
              </a:rPr>
              <a:t> corrected</a:t>
            </a:r>
            <a:endParaRPr lang="en-US" sz="1400" dirty="0"/>
          </a:p>
        </p:txBody>
      </p:sp>
      <p:sp>
        <p:nvSpPr>
          <p:cNvPr id="11" name="Text 9"/>
          <p:cNvSpPr/>
          <p:nvPr/>
        </p:nvSpPr>
        <p:spPr>
          <a:xfrm>
            <a:off x="4447381" y="3365500"/>
            <a:ext cx="109347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4A26"/>
                </a:solidFill>
                <a:latin typeface="IBM Plex Sans" pitchFamily="34" charset="0"/>
                <a:ea typeface="IBM Plex Sans" pitchFamily="34" charset="-122"/>
                <a:cs typeface="IBM Plex Sans" pitchFamily="34" charset="-120"/>
              </a:rPr>
              <a:t>20</a:t>
            </a:r>
            <a:r>
              <a:rPr lang="en-US" sz="1400" dirty="0">
                <a:solidFill>
                  <a:srgbClr val="1E2A38"/>
                </a:solidFill>
                <a:latin typeface="IBM Plex Sans" pitchFamily="34" charset="0"/>
                <a:ea typeface="IBM Plex Sans" pitchFamily="34" charset="-122"/>
                <a:cs typeface="IBM Plex Sans" pitchFamily="34" charset="-120"/>
              </a:rPr>
              <a:t> rejected</a:t>
            </a:r>
            <a:endParaRPr lang="en-US" sz="1400" dirty="0"/>
          </a:p>
        </p:txBody>
      </p:sp>
      <p:sp>
        <p:nvSpPr>
          <p:cNvPr id="12" name="Text 10"/>
          <p:cNvSpPr/>
          <p:nvPr/>
        </p:nvSpPr>
        <p:spPr>
          <a:xfrm>
            <a:off x="1073150" y="3765550"/>
            <a:ext cx="573734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7"/>
                </a:solidFill>
                <a:latin typeface="IBM Plex Sans" pitchFamily="34" charset="0"/>
                <a:ea typeface="IBM Plex Sans" pitchFamily="34" charset="-122"/>
                <a:cs typeface="IBM Plex Sans" pitchFamily="34" charset="-120"/>
              </a:rPr>
              <a:t>Of the 269 kept: </a:t>
            </a:r>
            <a:r>
              <a:rPr lang="en-US" sz="1400" b="1" dirty="0">
                <a:solidFill>
                  <a:srgbClr val="3E4A57"/>
                </a:solidFill>
                <a:latin typeface="IBM Plex Sans" pitchFamily="34" charset="0"/>
                <a:ea typeface="IBM Plex Sans" pitchFamily="34" charset="-122"/>
                <a:cs typeface="IBM Plex Sans" pitchFamily="34" charset="-120"/>
              </a:rPr>
              <a:t>42</a:t>
            </a:r>
            <a:r>
              <a:rPr lang="en-US" sz="1400" dirty="0">
                <a:solidFill>
                  <a:srgbClr val="3E4A57"/>
                </a:solidFill>
                <a:latin typeface="IBM Plex Sans" pitchFamily="34" charset="0"/>
                <a:ea typeface="IBM Plex Sans" pitchFamily="34" charset="-122"/>
                <a:cs typeface="IBM Plex Sans" pitchFamily="34" charset="-120"/>
              </a:rPr>
              <a:t> became automatic checks; </a:t>
            </a:r>
            <a:r>
              <a:rPr lang="en-US" sz="1400" b="1" dirty="0">
                <a:solidFill>
                  <a:srgbClr val="3E4A57"/>
                </a:solidFill>
                <a:latin typeface="IBM Plex Sans" pitchFamily="34" charset="0"/>
                <a:ea typeface="IBM Plex Sans" pitchFamily="34" charset="-122"/>
                <a:cs typeface="IBM Plex Sans" pitchFamily="34" charset="-120"/>
              </a:rPr>
              <a:t>227</a:t>
            </a:r>
            <a:r>
              <a:rPr lang="en-US" sz="1400" dirty="0">
                <a:solidFill>
                  <a:srgbClr val="3E4A57"/>
                </a:solidFill>
                <a:latin typeface="IBM Plex Sans" pitchFamily="34" charset="0"/>
                <a:ea typeface="IBM Plex Sans" pitchFamily="34" charset="-122"/>
                <a:cs typeface="IBM Plex Sans" pitchFamily="34" charset="-120"/>
              </a:rPr>
              <a:t> are kept on record, not checked automatically, each with the reason.</a:t>
            </a:r>
            <a:endParaRPr lang="en-US" sz="1400" dirty="0"/>
          </a:p>
        </p:txBody>
      </p:sp>
      <p:sp>
        <p:nvSpPr>
          <p:cNvPr id="13" name="Shape 11"/>
          <p:cNvSpPr/>
          <p:nvPr/>
        </p:nvSpPr>
        <p:spPr>
          <a:xfrm>
            <a:off x="7157740" y="2178050"/>
            <a:ext cx="4221460" cy="2622550"/>
          </a:xfrm>
          <a:prstGeom prst="roundRect">
            <a:avLst>
              <a:gd name="adj" fmla="val 3874"/>
            </a:avLst>
          </a:prstGeom>
          <a:solidFill>
            <a:srgbClr val="13243A"/>
          </a:solidFill>
          <a:ln/>
        </p:spPr>
      </p:sp>
      <p:sp>
        <p:nvSpPr>
          <p:cNvPr id="14" name="Text 12"/>
          <p:cNvSpPr/>
          <p:nvPr/>
        </p:nvSpPr>
        <p:spPr>
          <a:xfrm>
            <a:off x="7411740" y="2381250"/>
            <a:ext cx="3824864" cy="660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E39A6F"/>
                </a:solidFill>
                <a:latin typeface="Source Serif 4" pitchFamily="18" charset="0"/>
                <a:ea typeface="Source Serif 4" pitchFamily="18" charset="-122"/>
                <a:cs typeface="Source Serif 4" pitchFamily="18" charset="-120"/>
              </a:rPr>
              <a:t>24</a:t>
            </a:r>
            <a:endParaRPr lang="en-US" sz="5000" dirty="0"/>
          </a:p>
        </p:txBody>
      </p:sp>
      <p:sp>
        <p:nvSpPr>
          <p:cNvPr id="15" name="Text 13"/>
          <p:cNvSpPr/>
          <p:nvPr/>
        </p:nvSpPr>
        <p:spPr>
          <a:xfrm>
            <a:off x="7411740" y="3092450"/>
            <a:ext cx="382486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proposed checks withheld from use</a:t>
            </a:r>
            <a:endParaRPr lang="en-US" sz="1300" dirty="0"/>
          </a:p>
        </p:txBody>
      </p:sp>
      <p:sp>
        <p:nvSpPr>
          <p:cNvPr id="16" name="Text 14"/>
          <p:cNvSpPr/>
          <p:nvPr/>
        </p:nvSpPr>
        <p:spPr>
          <a:xfrm>
            <a:off x="7411740" y="3397250"/>
            <a:ext cx="3824864"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5E0"/>
                </a:solidFill>
                <a:latin typeface="IBM Plex Sans" pitchFamily="34" charset="0"/>
                <a:ea typeface="IBM Plex Sans" pitchFamily="34" charset="-122"/>
                <a:cs typeface="IBM Plex Sans" pitchFamily="34" charset="-120"/>
              </a:rPr>
              <a:t>8</a:t>
            </a:r>
            <a:r>
              <a:rPr lang="en-US" sz="1200" dirty="0">
                <a:solidFill>
                  <a:srgbClr val="C9D5E0"/>
                </a:solidFill>
                <a:latin typeface="IBM Plex Sans" pitchFamily="34" charset="0"/>
                <a:ea typeface="IBM Plex Sans" pitchFamily="34" charset="-122"/>
                <a:cs typeface="IBM Plex Sans" pitchFamily="34" charset="-120"/>
              </a:rPr>
              <a:t> would have flagged lawful claims, such as same-day FQHC visits</a:t>
            </a:r>
            <a:endParaRPr lang="en-US" sz="1200" dirty="0"/>
          </a:p>
        </p:txBody>
      </p:sp>
      <p:sp>
        <p:nvSpPr>
          <p:cNvPr id="17" name="Text 15"/>
          <p:cNvSpPr/>
          <p:nvPr/>
        </p:nvSpPr>
        <p:spPr>
          <a:xfrm>
            <a:off x="7411740" y="3892550"/>
            <a:ext cx="3824864"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5E0"/>
                </a:solidFill>
                <a:latin typeface="IBM Plex Sans" pitchFamily="34" charset="0"/>
                <a:ea typeface="IBM Plex Sans" pitchFamily="34" charset="-122"/>
                <a:cs typeface="IBM Plex Sans" pitchFamily="34" charset="-120"/>
              </a:rPr>
              <a:t>13</a:t>
            </a:r>
            <a:r>
              <a:rPr lang="en-US" sz="1200" dirty="0">
                <a:solidFill>
                  <a:srgbClr val="C9D5E0"/>
                </a:solidFill>
                <a:latin typeface="IBM Plex Sans" pitchFamily="34" charset="0"/>
                <a:ea typeface="IBM Plex Sans" pitchFamily="34" charset="-122"/>
                <a:cs typeface="IBM Plex Sans" pitchFamily="34" charset="-120"/>
              </a:rPr>
              <a:t> differ from the newer AHCCCS Same Day table; held until AHCCCS confirms</a:t>
            </a:r>
            <a:endParaRPr lang="en-US" sz="1200" dirty="0"/>
          </a:p>
        </p:txBody>
      </p:sp>
      <p:sp>
        <p:nvSpPr>
          <p:cNvPr id="18" name="Text 16"/>
          <p:cNvSpPr/>
          <p:nvPr/>
        </p:nvSpPr>
        <p:spPr>
          <a:xfrm>
            <a:off x="7411740" y="4387850"/>
            <a:ext cx="382486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5E0"/>
                </a:solidFill>
                <a:latin typeface="IBM Plex Sans" pitchFamily="34" charset="0"/>
                <a:ea typeface="IBM Plex Sans" pitchFamily="34" charset="-122"/>
                <a:cs typeface="IBM Plex Sans" pitchFamily="34" charset="-120"/>
              </a:rPr>
              <a:t>3</a:t>
            </a:r>
            <a:r>
              <a:rPr lang="en-US" sz="1200" dirty="0">
                <a:solidFill>
                  <a:srgbClr val="C9D5E0"/>
                </a:solidFill>
                <a:latin typeface="IBM Plex Sans" pitchFamily="34" charset="0"/>
                <a:ea typeface="IBM Plex Sans" pitchFamily="34" charset="-122"/>
                <a:cs typeface="IBM Plex Sans" pitchFamily="34" charset="-120"/>
              </a:rPr>
              <a:t> need data not in the claims data we receive</a:t>
            </a:r>
            <a:endParaRPr lang="en-US" sz="1200" dirty="0"/>
          </a:p>
        </p:txBody>
      </p:sp>
      <p:sp>
        <p:nvSpPr>
          <p:cNvPr id="19" name="Text 17"/>
          <p:cNvSpPr/>
          <p:nvPr/>
        </p:nvSpPr>
        <p:spPr>
          <a:xfrm>
            <a:off x="812800" y="5003800"/>
            <a:ext cx="10566400" cy="431800"/>
          </a:xfrm>
          <a:prstGeom prst="roundRect">
            <a:avLst>
              <a:gd name="adj" fmla="val 17647"/>
            </a:avLst>
          </a:prstGeom>
          <a:solidFill>
            <a:srgbClr val="F3E3C3"/>
          </a:solidFill>
          <a:ln/>
        </p:spPr>
        <p:txBody>
          <a:bodyPr wrap="square" lIns="130082" tIns="79282" rIns="0" bIns="53882" rtlCol="0" anchor="t">
            <a:normAutofit/>
          </a:bodyPr>
          <a:lstStyle/>
          <a:p>
            <a:pPr algn="l" indent="0" marL="0">
              <a:lnSpc>
                <a:spcPts val="1820"/>
              </a:lnSpc>
              <a:buNone/>
            </a:pPr>
            <a:r>
              <a:rPr lang="en-US" sz="1300" dirty="0">
                <a:solidFill>
                  <a:srgbClr val="6B4A12"/>
                </a:solidFill>
                <a:latin typeface="IBM Plex Sans" pitchFamily="34" charset="0"/>
                <a:ea typeface="IBM Plex Sans" pitchFamily="34" charset="-122"/>
                <a:cs typeface="IBM Plex Sans" pitchFamily="34" charset="-120"/>
              </a:rPr>
              <a:t>Current review: project-lead sign-off. Next requirement: AHCCCS policy expert validation.</a:t>
            </a:r>
            <a:endParaRPr lang="en-US" sz="1300" dirty="0"/>
          </a:p>
        </p:txBody>
      </p:sp>
      <p:sp>
        <p:nvSpPr>
          <p:cNvPr id="20" name="Text 18"/>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21" name="Text 19"/>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812800" y="812800"/>
            <a:ext cx="1110059" cy="285750"/>
          </a:xfrm>
          <a:prstGeom prst="roundRect">
            <a:avLst>
              <a:gd name="adj" fmla="val 50000"/>
            </a:avLst>
          </a:prstGeom>
          <a:solidFill>
            <a:srgbClr val="13243A"/>
          </a:solidFill>
          <a:ln/>
        </p:spPr>
      </p:sp>
      <p:sp>
        <p:nvSpPr>
          <p:cNvPr id="3" name="Text 1"/>
          <p:cNvSpPr/>
          <p:nvPr/>
        </p:nvSpPr>
        <p:spPr>
          <a:xfrm>
            <a:off x="901700" y="850900"/>
            <a:ext cx="983059"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Claim checks</a:t>
            </a:r>
            <a:endParaRPr lang="en-US" sz="1200" dirty="0"/>
          </a:p>
        </p:txBody>
      </p:sp>
      <p:sp>
        <p:nvSpPr>
          <p:cNvPr id="4" name="Shape 2"/>
          <p:cNvSpPr/>
          <p:nvPr/>
        </p:nvSpPr>
        <p:spPr>
          <a:xfrm>
            <a:off x="1973659" y="812800"/>
            <a:ext cx="1031776" cy="285750"/>
          </a:xfrm>
          <a:prstGeom prst="roundRect">
            <a:avLst>
              <a:gd name="adj" fmla="val 50000"/>
            </a:avLst>
          </a:prstGeom>
          <a:solidFill>
            <a:srgbClr val="E9E6DE"/>
          </a:solidFill>
          <a:ln/>
        </p:spPr>
      </p:sp>
      <p:sp>
        <p:nvSpPr>
          <p:cNvPr id="5" name="Text 3"/>
          <p:cNvSpPr/>
          <p:nvPr/>
        </p:nvSpPr>
        <p:spPr>
          <a:xfrm>
            <a:off x="2062559" y="850900"/>
            <a:ext cx="90477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Code lookup</a:t>
            </a:r>
            <a:endParaRPr lang="en-US" sz="1200" dirty="0"/>
          </a:p>
        </p:txBody>
      </p:sp>
      <p:sp>
        <p:nvSpPr>
          <p:cNvPr id="6" name="Shape 4"/>
          <p:cNvSpPr/>
          <p:nvPr/>
        </p:nvSpPr>
        <p:spPr>
          <a:xfrm>
            <a:off x="3056235" y="812800"/>
            <a:ext cx="1593751" cy="285750"/>
          </a:xfrm>
          <a:prstGeom prst="roundRect">
            <a:avLst>
              <a:gd name="adj" fmla="val 50000"/>
            </a:avLst>
          </a:prstGeom>
          <a:solidFill>
            <a:srgbClr val="E9E6DE"/>
          </a:solidFill>
          <a:ln/>
        </p:spPr>
      </p:sp>
      <p:sp>
        <p:nvSpPr>
          <p:cNvPr id="7" name="Text 5"/>
          <p:cNvSpPr/>
          <p:nvPr/>
        </p:nvSpPr>
        <p:spPr>
          <a:xfrm>
            <a:off x="3145135" y="850900"/>
            <a:ext cx="146675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Where sources differ</a:t>
            </a:r>
            <a:endParaRPr lang="en-US" sz="1200" dirty="0"/>
          </a:p>
        </p:txBody>
      </p:sp>
      <p:sp>
        <p:nvSpPr>
          <p:cNvPr id="8" name="Shape 6"/>
          <p:cNvSpPr/>
          <p:nvPr/>
        </p:nvSpPr>
        <p:spPr>
          <a:xfrm>
            <a:off x="4700786" y="812800"/>
            <a:ext cx="1588591" cy="285750"/>
          </a:xfrm>
          <a:prstGeom prst="roundRect">
            <a:avLst>
              <a:gd name="adj" fmla="val 50000"/>
            </a:avLst>
          </a:prstGeom>
          <a:solidFill>
            <a:srgbClr val="E9E6DE"/>
          </a:solidFill>
          <a:ln/>
        </p:spPr>
      </p:sp>
      <p:sp>
        <p:nvSpPr>
          <p:cNvPr id="9" name="Text 7"/>
          <p:cNvSpPr/>
          <p:nvPr/>
        </p:nvSpPr>
        <p:spPr>
          <a:xfrm>
            <a:off x="4789686" y="850900"/>
            <a:ext cx="146159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update review</a:t>
            </a:r>
            <a:endParaRPr lang="en-US" sz="1200" dirty="0"/>
          </a:p>
        </p:txBody>
      </p:sp>
      <p:sp>
        <p:nvSpPr>
          <p:cNvPr id="10" name="Shape 8"/>
          <p:cNvSpPr/>
          <p:nvPr/>
        </p:nvSpPr>
        <p:spPr>
          <a:xfrm>
            <a:off x="6340177" y="812800"/>
            <a:ext cx="932061" cy="285750"/>
          </a:xfrm>
          <a:prstGeom prst="roundRect">
            <a:avLst>
              <a:gd name="adj" fmla="val 50000"/>
            </a:avLst>
          </a:prstGeom>
          <a:solidFill>
            <a:srgbClr val="E9E6DE"/>
          </a:solidFill>
          <a:ln/>
        </p:spPr>
      </p:sp>
      <p:sp>
        <p:nvSpPr>
          <p:cNvPr id="11" name="Text 9"/>
          <p:cNvSpPr/>
          <p:nvPr/>
        </p:nvSpPr>
        <p:spPr>
          <a:xfrm>
            <a:off x="6429077" y="850900"/>
            <a:ext cx="80506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Q&amp;A</a:t>
            </a:r>
            <a:endParaRPr lang="en-US" sz="1200" dirty="0"/>
          </a:p>
        </p:txBody>
      </p:sp>
      <p:sp>
        <p:nvSpPr>
          <p:cNvPr id="12" name="Shape 10"/>
          <p:cNvSpPr/>
          <p:nvPr/>
        </p:nvSpPr>
        <p:spPr>
          <a:xfrm>
            <a:off x="7323038" y="812800"/>
            <a:ext cx="1689795" cy="285750"/>
          </a:xfrm>
          <a:prstGeom prst="roundRect">
            <a:avLst>
              <a:gd name="adj" fmla="val 50000"/>
            </a:avLst>
          </a:prstGeom>
          <a:solidFill>
            <a:srgbClr val="E9E6DE"/>
          </a:solidFill>
          <a:ln/>
        </p:spPr>
      </p:sp>
      <p:sp>
        <p:nvSpPr>
          <p:cNvPr id="13" name="Text 11"/>
          <p:cNvSpPr/>
          <p:nvPr/>
        </p:nvSpPr>
        <p:spPr>
          <a:xfrm>
            <a:off x="7411938" y="850900"/>
            <a:ext cx="156279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Anomaly explanations</a:t>
            </a:r>
            <a:endParaRPr lang="en-US" sz="1200" dirty="0"/>
          </a:p>
        </p:txBody>
      </p:sp>
      <p:sp>
        <p:nvSpPr>
          <p:cNvPr id="14" name="Text 12"/>
          <p:cNvSpPr/>
          <p:nvPr>
            <p:ph type="title"/>
          </p:nvPr>
        </p:nvSpPr>
        <p:spPr>
          <a:xfrm>
            <a:off x="812800" y="12001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A policy-based flag should identify what needs verification, not presume a violation.</a:t>
            </a:r>
            <a:endParaRPr lang="en-US" sz="3000" dirty="0"/>
          </a:p>
        </p:txBody>
      </p:sp>
      <p:sp>
        <p:nvSpPr>
          <p:cNvPr id="15" name="Shape 13"/>
          <p:cNvSpPr/>
          <p:nvPr/>
        </p:nvSpPr>
        <p:spPr>
          <a:xfrm>
            <a:off x="815975" y="2359025"/>
            <a:ext cx="6597650" cy="2844800"/>
          </a:xfrm>
          <a:prstGeom prst="roundRect">
            <a:avLst>
              <a:gd name="adj" fmla="val 3460"/>
            </a:avLst>
          </a:prstGeom>
          <a:solidFill>
            <a:srgbClr val="FCFBF8"/>
          </a:solidFill>
          <a:ln w="6350">
            <a:solidFill>
              <a:srgbClr val="DAD6CC"/>
            </a:solidFill>
            <a:prstDash val="solid"/>
          </a:ln>
        </p:spPr>
      </p:sp>
      <p:sp>
        <p:nvSpPr>
          <p:cNvPr id="16" name="Text 14"/>
          <p:cNvSpPr/>
          <p:nvPr/>
        </p:nvSpPr>
        <p:spPr>
          <a:xfrm>
            <a:off x="1073150" y="2616200"/>
            <a:ext cx="6265799"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873"/>
                </a:solidFill>
                <a:latin typeface="IBM Plex Sans" pitchFamily="34" charset="0"/>
                <a:ea typeface="IBM Plex Sans" pitchFamily="34" charset="-122"/>
                <a:cs typeface="IBM Plex Sans" pitchFamily="34" charset="-120"/>
              </a:rPr>
              <a:t>ILLUSTRATIVE EXAMPLE</a:t>
            </a:r>
            <a:endParaRPr lang="en-US" sz="1200" dirty="0"/>
          </a:p>
        </p:txBody>
      </p:sp>
      <p:sp>
        <p:nvSpPr>
          <p:cNvPr id="17" name="Text 15"/>
          <p:cNvSpPr/>
          <p:nvPr/>
        </p:nvSpPr>
        <p:spPr>
          <a:xfrm>
            <a:off x="1073150" y="2978150"/>
            <a:ext cx="1701800" cy="5207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43A"/>
                </a:solidFill>
                <a:latin typeface="IBM Plex Sans" pitchFamily="34" charset="0"/>
                <a:ea typeface="IBM Plex Sans" pitchFamily="34" charset="-122"/>
                <a:cs typeface="IBM Plex Sans" pitchFamily="34" charset="-120"/>
              </a:rPr>
              <a:t>What happened</a:t>
            </a:r>
            <a:endParaRPr lang="en-US" sz="1400" dirty="0"/>
          </a:p>
        </p:txBody>
      </p:sp>
      <p:sp>
        <p:nvSpPr>
          <p:cNvPr id="18" name="Text 16"/>
          <p:cNvSpPr/>
          <p:nvPr/>
        </p:nvSpPr>
        <p:spPr>
          <a:xfrm>
            <a:off x="2851150" y="2978150"/>
            <a:ext cx="4434459"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One member, one day: 6 units of community health worker education were paid.</a:t>
            </a:r>
            <a:endParaRPr lang="en-US" sz="1400" dirty="0"/>
          </a:p>
        </p:txBody>
      </p:sp>
      <p:sp>
        <p:nvSpPr>
          <p:cNvPr id="19" name="Text 17"/>
          <p:cNvSpPr/>
          <p:nvPr/>
        </p:nvSpPr>
        <p:spPr>
          <a:xfrm>
            <a:off x="1073150" y="3600450"/>
            <a:ext cx="1701800" cy="5207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43A"/>
                </a:solidFill>
                <a:latin typeface="IBM Plex Sans" pitchFamily="34" charset="0"/>
                <a:ea typeface="IBM Plex Sans" pitchFamily="34" charset="-122"/>
                <a:cs typeface="IBM Plex Sans" pitchFamily="34" charset="-120"/>
              </a:rPr>
              <a:t>Policy says</a:t>
            </a:r>
            <a:endParaRPr lang="en-US" sz="1400" dirty="0"/>
          </a:p>
        </p:txBody>
      </p:sp>
      <p:sp>
        <p:nvSpPr>
          <p:cNvPr id="20" name="Text 18"/>
          <p:cNvSpPr/>
          <p:nvPr/>
        </p:nvSpPr>
        <p:spPr>
          <a:xfrm>
            <a:off x="2851150" y="3600450"/>
            <a:ext cx="4434459"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At most 4 units a day; more needs prior authorization. Ch. 10, p. 9, in the version in force that day.</a:t>
            </a:r>
            <a:endParaRPr lang="en-US" sz="1400" dirty="0"/>
          </a:p>
        </p:txBody>
      </p:sp>
      <p:sp>
        <p:nvSpPr>
          <p:cNvPr id="21" name="Text 19"/>
          <p:cNvSpPr/>
          <p:nvPr/>
        </p:nvSpPr>
        <p:spPr>
          <a:xfrm>
            <a:off x="1073150" y="4222750"/>
            <a:ext cx="1701800" cy="3746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43A"/>
                </a:solidFill>
                <a:latin typeface="IBM Plex Sans" pitchFamily="34" charset="0"/>
                <a:ea typeface="IBM Plex Sans" pitchFamily="34" charset="-122"/>
                <a:cs typeface="IBM Plex Sans" pitchFamily="34" charset="-120"/>
              </a:rPr>
              <a:t>Recommended review</a:t>
            </a:r>
            <a:endParaRPr lang="en-US" sz="1400" dirty="0"/>
          </a:p>
        </p:txBody>
      </p:sp>
      <p:sp>
        <p:nvSpPr>
          <p:cNvPr id="22" name="Text 20"/>
          <p:cNvSpPr/>
          <p:nvPr/>
        </p:nvSpPr>
        <p:spPr>
          <a:xfrm>
            <a:off x="2851150" y="4222750"/>
            <a:ext cx="2668191" cy="349250"/>
          </a:xfrm>
          <a:prstGeom prst="roundRect">
            <a:avLst>
              <a:gd name="adj" fmla="val 50000"/>
            </a:avLst>
          </a:prstGeom>
          <a:solidFill>
            <a:srgbClr val="F3E3C3"/>
          </a:solidFill>
          <a:ln/>
        </p:spPr>
        <p:txBody>
          <a:bodyPr wrap="none" lIns="0" tIns="0" rIns="0" bIns="0" rtlCol="0" anchor="ctr">
            <a:normAutofit/>
          </a:bodyPr>
          <a:lstStyle/>
          <a:p>
            <a:pPr algn="ctr" indent="0" marL="0">
              <a:lnSpc>
                <a:spcPts val="1960"/>
              </a:lnSpc>
              <a:buNone/>
            </a:pPr>
            <a:r>
              <a:rPr lang="en-US" sz="1400" b="1" dirty="0">
                <a:solidFill>
                  <a:srgbClr val="6B4A12"/>
                </a:solidFill>
                <a:latin typeface="IBM Plex Sans" pitchFamily="34" charset="0"/>
                <a:ea typeface="IBM Plex Sans" pitchFamily="34" charset="-122"/>
                <a:cs typeface="IBM Plex Sans" pitchFamily="34" charset="-120"/>
              </a:rPr>
              <a:t>Verify prior authorization</a:t>
            </a:r>
            <a:endParaRPr lang="en-US" sz="1400" dirty="0"/>
          </a:p>
        </p:txBody>
      </p:sp>
      <p:sp>
        <p:nvSpPr>
          <p:cNvPr id="23" name="Text 21"/>
          <p:cNvSpPr/>
          <p:nvPr/>
        </p:nvSpPr>
        <p:spPr>
          <a:xfrm>
            <a:off x="1073150" y="4699000"/>
            <a:ext cx="170180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43A"/>
                </a:solidFill>
                <a:latin typeface="IBM Plex Sans" pitchFamily="34" charset="0"/>
                <a:ea typeface="IBM Plex Sans" pitchFamily="34" charset="-122"/>
                <a:cs typeface="IBM Plex Sans" pitchFamily="34" charset="-120"/>
              </a:rPr>
              <a:t>Next step</a:t>
            </a:r>
            <a:endParaRPr lang="en-US" sz="1400" dirty="0"/>
          </a:p>
        </p:txBody>
      </p:sp>
      <p:sp>
        <p:nvSpPr>
          <p:cNvPr id="24" name="Text 22"/>
          <p:cNvSpPr/>
          <p:nvPr/>
        </p:nvSpPr>
        <p:spPr>
          <a:xfrm>
            <a:off x="2851150" y="4699000"/>
            <a:ext cx="4559300"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Confirm whether the required authorization exists before determining next steps.</a:t>
            </a:r>
            <a:endParaRPr lang="en-US" sz="1400" dirty="0"/>
          </a:p>
        </p:txBody>
      </p:sp>
      <p:pic>
        <p:nvPicPr>
          <p:cNvPr id="25" name="Image 0" descr="CheckCircle">    </p:cNvPr>
          <p:cNvPicPr>
            <a:picLocks noChangeAspect="1"/>
          </p:cNvPicPr>
          <p:nvPr/>
        </p:nvPicPr>
        <p:blipFill>
          <a:blip r:embed="rId1"/>
          <a:srcRect l="0" r="0" t="-147" b="-147"/>
          <a:stretch/>
        </p:blipFill>
        <p:spPr>
          <a:xfrm>
            <a:off x="7721600" y="2457450"/>
            <a:ext cx="202605" cy="254000"/>
          </a:xfrm>
          <a:prstGeom prst="rect">
            <a:avLst/>
          </a:prstGeom>
        </p:spPr>
      </p:pic>
      <p:sp>
        <p:nvSpPr>
          <p:cNvPr id="26" name="Text 23"/>
          <p:cNvSpPr/>
          <p:nvPr/>
        </p:nvSpPr>
        <p:spPr>
          <a:xfrm>
            <a:off x="8025805" y="2457450"/>
            <a:ext cx="3453997"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Each flag references the applicable policy text and version.</a:t>
            </a:r>
            <a:endParaRPr lang="en-US" sz="1400" dirty="0"/>
          </a:p>
        </p:txBody>
      </p:sp>
      <p:pic>
        <p:nvPicPr>
          <p:cNvPr id="27" name="Image 1" descr="CheckCircle">    </p:cNvPr>
          <p:cNvPicPr>
            <a:picLocks noChangeAspect="1"/>
          </p:cNvPicPr>
          <p:nvPr/>
        </p:nvPicPr>
        <p:blipFill>
          <a:blip r:embed="rId2"/>
          <a:srcRect l="-126" r="-126" t="0" b="0"/>
          <a:stretch/>
        </p:blipFill>
        <p:spPr>
          <a:xfrm>
            <a:off x="7721600" y="3155950"/>
            <a:ext cx="197346" cy="254000"/>
          </a:xfrm>
          <a:prstGeom prst="rect">
            <a:avLst/>
          </a:prstGeom>
        </p:spPr>
      </p:pic>
      <p:sp>
        <p:nvSpPr>
          <p:cNvPr id="28" name="Text 24"/>
          <p:cNvSpPr/>
          <p:nvPr/>
        </p:nvSpPr>
        <p:spPr>
          <a:xfrm>
            <a:off x="8020546" y="3155950"/>
            <a:ext cx="3459414"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Exceptions must be evaluated before drawing conclusions.</a:t>
            </a:r>
            <a:endParaRPr lang="en-US" sz="1400" dirty="0"/>
          </a:p>
        </p:txBody>
      </p:sp>
      <p:pic>
        <p:nvPicPr>
          <p:cNvPr id="29" name="Image 2" descr="CheckCircle">    </p:cNvPr>
          <p:cNvPicPr>
            <a:picLocks noChangeAspect="1"/>
          </p:cNvPicPr>
          <p:nvPr/>
        </p:nvPicPr>
        <p:blipFill>
          <a:blip r:embed="rId3"/>
          <a:srcRect l="0" r="0" t="0" b="0"/>
          <a:stretch/>
        </p:blipFill>
        <p:spPr>
          <a:xfrm>
            <a:off x="7721600" y="3854450"/>
            <a:ext cx="254000" cy="254000"/>
          </a:xfrm>
          <a:prstGeom prst="rect">
            <a:avLst/>
          </a:prstGeom>
        </p:spPr>
      </p:pic>
      <p:sp>
        <p:nvSpPr>
          <p:cNvPr id="30" name="Text 25"/>
          <p:cNvSpPr/>
          <p:nvPr/>
        </p:nvSpPr>
        <p:spPr>
          <a:xfrm>
            <a:off x="8077200" y="3854450"/>
            <a:ext cx="3792498"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8"/>
                </a:solidFill>
                <a:latin typeface="IBM Plex Sans" pitchFamily="34" charset="0"/>
                <a:ea typeface="IBM Plex Sans" pitchFamily="34" charset="-122"/>
                <a:cs typeface="IBM Plex Sans" pitchFamily="34" charset="-120"/>
              </a:rPr>
              <a:t>The system identifies questions. Investigators make determinations.</a:t>
            </a:r>
            <a:endParaRPr lang="en-US" sz="1400" dirty="0"/>
          </a:p>
        </p:txBody>
      </p:sp>
      <p:sp>
        <p:nvSpPr>
          <p:cNvPr id="31" name="Text 26"/>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32" name="Text 27"/>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812800" y="812800"/>
            <a:ext cx="1079004" cy="285750"/>
          </a:xfrm>
          <a:prstGeom prst="roundRect">
            <a:avLst>
              <a:gd name="adj" fmla="val 50000"/>
            </a:avLst>
          </a:prstGeom>
          <a:solidFill>
            <a:srgbClr val="E9E6DE"/>
          </a:solidFill>
          <a:ln/>
        </p:spPr>
      </p:sp>
      <p:sp>
        <p:nvSpPr>
          <p:cNvPr id="3" name="Text 1"/>
          <p:cNvSpPr/>
          <p:nvPr/>
        </p:nvSpPr>
        <p:spPr>
          <a:xfrm>
            <a:off x="901700" y="850900"/>
            <a:ext cx="95200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Claim checks</a:t>
            </a:r>
            <a:endParaRPr lang="en-US" sz="1200" dirty="0"/>
          </a:p>
        </p:txBody>
      </p:sp>
      <p:sp>
        <p:nvSpPr>
          <p:cNvPr id="4" name="Shape 2"/>
          <p:cNvSpPr/>
          <p:nvPr/>
        </p:nvSpPr>
        <p:spPr>
          <a:xfrm>
            <a:off x="1942604" y="812800"/>
            <a:ext cx="1055390" cy="285750"/>
          </a:xfrm>
          <a:prstGeom prst="roundRect">
            <a:avLst>
              <a:gd name="adj" fmla="val 50000"/>
            </a:avLst>
          </a:prstGeom>
          <a:solidFill>
            <a:srgbClr val="13243A"/>
          </a:solidFill>
          <a:ln/>
        </p:spPr>
      </p:sp>
      <p:sp>
        <p:nvSpPr>
          <p:cNvPr id="5" name="Text 3"/>
          <p:cNvSpPr/>
          <p:nvPr/>
        </p:nvSpPr>
        <p:spPr>
          <a:xfrm>
            <a:off x="2031504" y="850900"/>
            <a:ext cx="92839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Code lookup</a:t>
            </a:r>
            <a:endParaRPr lang="en-US" sz="1200" dirty="0"/>
          </a:p>
        </p:txBody>
      </p:sp>
      <p:sp>
        <p:nvSpPr>
          <p:cNvPr id="6" name="Shape 4"/>
          <p:cNvSpPr/>
          <p:nvPr/>
        </p:nvSpPr>
        <p:spPr>
          <a:xfrm>
            <a:off x="3048794" y="812800"/>
            <a:ext cx="1593751" cy="285750"/>
          </a:xfrm>
          <a:prstGeom prst="roundRect">
            <a:avLst>
              <a:gd name="adj" fmla="val 50000"/>
            </a:avLst>
          </a:prstGeom>
          <a:solidFill>
            <a:srgbClr val="E9E6DE"/>
          </a:solidFill>
          <a:ln/>
        </p:spPr>
      </p:sp>
      <p:sp>
        <p:nvSpPr>
          <p:cNvPr id="7" name="Text 5"/>
          <p:cNvSpPr/>
          <p:nvPr/>
        </p:nvSpPr>
        <p:spPr>
          <a:xfrm>
            <a:off x="3137694" y="850900"/>
            <a:ext cx="146675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Where sources differ</a:t>
            </a:r>
            <a:endParaRPr lang="en-US" sz="1200" dirty="0"/>
          </a:p>
        </p:txBody>
      </p:sp>
      <p:sp>
        <p:nvSpPr>
          <p:cNvPr id="8" name="Shape 6"/>
          <p:cNvSpPr/>
          <p:nvPr/>
        </p:nvSpPr>
        <p:spPr>
          <a:xfrm>
            <a:off x="4693345" y="812800"/>
            <a:ext cx="1588591" cy="285750"/>
          </a:xfrm>
          <a:prstGeom prst="roundRect">
            <a:avLst>
              <a:gd name="adj" fmla="val 50000"/>
            </a:avLst>
          </a:prstGeom>
          <a:solidFill>
            <a:srgbClr val="E9E6DE"/>
          </a:solidFill>
          <a:ln/>
        </p:spPr>
      </p:sp>
      <p:sp>
        <p:nvSpPr>
          <p:cNvPr id="9" name="Text 7"/>
          <p:cNvSpPr/>
          <p:nvPr/>
        </p:nvSpPr>
        <p:spPr>
          <a:xfrm>
            <a:off x="4782245" y="850900"/>
            <a:ext cx="146159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update review</a:t>
            </a:r>
            <a:endParaRPr lang="en-US" sz="1200" dirty="0"/>
          </a:p>
        </p:txBody>
      </p:sp>
      <p:sp>
        <p:nvSpPr>
          <p:cNvPr id="10" name="Shape 8"/>
          <p:cNvSpPr/>
          <p:nvPr/>
        </p:nvSpPr>
        <p:spPr>
          <a:xfrm>
            <a:off x="6332736" y="812800"/>
            <a:ext cx="932061" cy="285750"/>
          </a:xfrm>
          <a:prstGeom prst="roundRect">
            <a:avLst>
              <a:gd name="adj" fmla="val 50000"/>
            </a:avLst>
          </a:prstGeom>
          <a:solidFill>
            <a:srgbClr val="E9E6DE"/>
          </a:solidFill>
          <a:ln/>
        </p:spPr>
      </p:sp>
      <p:sp>
        <p:nvSpPr>
          <p:cNvPr id="11" name="Text 9"/>
          <p:cNvSpPr/>
          <p:nvPr/>
        </p:nvSpPr>
        <p:spPr>
          <a:xfrm>
            <a:off x="6421636" y="850900"/>
            <a:ext cx="80506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Q&amp;A</a:t>
            </a:r>
            <a:endParaRPr lang="en-US" sz="1200" dirty="0"/>
          </a:p>
        </p:txBody>
      </p:sp>
      <p:sp>
        <p:nvSpPr>
          <p:cNvPr id="12" name="Shape 10"/>
          <p:cNvSpPr/>
          <p:nvPr/>
        </p:nvSpPr>
        <p:spPr>
          <a:xfrm>
            <a:off x="7315597" y="812800"/>
            <a:ext cx="1689795" cy="285750"/>
          </a:xfrm>
          <a:prstGeom prst="roundRect">
            <a:avLst>
              <a:gd name="adj" fmla="val 50000"/>
            </a:avLst>
          </a:prstGeom>
          <a:solidFill>
            <a:srgbClr val="E9E6DE"/>
          </a:solidFill>
          <a:ln/>
        </p:spPr>
      </p:sp>
      <p:sp>
        <p:nvSpPr>
          <p:cNvPr id="13" name="Text 11"/>
          <p:cNvSpPr/>
          <p:nvPr/>
        </p:nvSpPr>
        <p:spPr>
          <a:xfrm>
            <a:off x="7404497" y="850900"/>
            <a:ext cx="156279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Anomaly explanations</a:t>
            </a:r>
            <a:endParaRPr lang="en-US" sz="1200" dirty="0"/>
          </a:p>
        </p:txBody>
      </p:sp>
      <p:sp>
        <p:nvSpPr>
          <p:cNvPr id="14" name="Text 12"/>
          <p:cNvSpPr/>
          <p:nvPr>
            <p:ph type="title"/>
          </p:nvPr>
        </p:nvSpPr>
        <p:spPr>
          <a:xfrm>
            <a:off x="812800" y="12001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For any procedure code, connect applicable rules to the claims and dollars in scope.</a:t>
            </a:r>
            <a:endParaRPr lang="en-US" sz="3000" dirty="0"/>
          </a:p>
        </p:txBody>
      </p:sp>
      <p:sp>
        <p:nvSpPr>
          <p:cNvPr id="15" name="Text 13"/>
          <p:cNvSpPr/>
          <p:nvPr/>
        </p:nvSpPr>
        <p:spPr>
          <a:xfrm>
            <a:off x="812800" y="2254250"/>
            <a:ext cx="10883392" cy="5207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7"/>
                </a:solidFill>
                <a:latin typeface="IBM Plex Sans" pitchFamily="34" charset="0"/>
                <a:ea typeface="IBM Plex Sans" pitchFamily="34" charset="-122"/>
                <a:cs typeface="IBM Plex Sans" pitchFamily="34" charset="-120"/>
              </a:rPr>
              <a:t>Example: 90791</a:t>
            </a:r>
            <a:r>
              <a:rPr lang="en-US" sz="1400" dirty="0">
                <a:solidFill>
                  <a:srgbClr val="3E4A57"/>
                </a:solidFill>
                <a:latin typeface="IBM Plex Sans" pitchFamily="34" charset="0"/>
                <a:ea typeface="IBM Plex Sans" pitchFamily="34" charset="-122"/>
                <a:cs typeface="IBM Plex Sans" pitchFamily="34" charset="-120"/>
              </a:rPr>
              <a:t>, psychiatric diagnostic evaluation. About </a:t>
            </a:r>
            <a:r>
              <a:rPr lang="en-US" sz="1400" b="1" dirty="0">
                <a:solidFill>
                  <a:srgbClr val="3E4A57"/>
                </a:solidFill>
                <a:latin typeface="IBM Plex Sans" pitchFamily="34" charset="0"/>
                <a:ea typeface="IBM Plex Sans" pitchFamily="34" charset="-122"/>
                <a:cs typeface="IBM Plex Sans" pitchFamily="34" charset="-120"/>
              </a:rPr>
              <a:t>$470K</a:t>
            </a:r>
            <a:r>
              <a:rPr lang="en-US" sz="1400" dirty="0">
                <a:solidFill>
                  <a:srgbClr val="3E4A57"/>
                </a:solidFill>
                <a:latin typeface="IBM Plex Sans" pitchFamily="34" charset="0"/>
                <a:ea typeface="IBM Plex Sans" pitchFamily="34" charset="-122"/>
                <a:cs typeface="IBM Plex Sans" pitchFamily="34" charset="-120"/>
              </a:rPr>
              <a:t> paid on 3,169 lines, Oct 2024 to Sep 2026. Rules found: 739 federal code-pair edits; a federal limit of 1 unit per line; an AHCCCS daily limit of 1 (waiting for signature); no billing manual rule.</a:t>
            </a:r>
            <a:endParaRPr lang="en-US" sz="1400" dirty="0"/>
          </a:p>
        </p:txBody>
      </p:sp>
      <p:sp>
        <p:nvSpPr>
          <p:cNvPr id="16" name="Shape 14"/>
          <p:cNvSpPr/>
          <p:nvPr/>
        </p:nvSpPr>
        <p:spPr>
          <a:xfrm>
            <a:off x="812800" y="2952750"/>
            <a:ext cx="4458395" cy="457200"/>
          </a:xfrm>
          <a:custGeom>
            <a:avLst/>
            <a:gdLst/>
            <a:ahLst/>
            <a:cxnLst/>
            <a:rect l="l" t="t" r="r" b="b"/>
            <a:pathLst>
              <a:path w="4458395" h="457200">
                <a:moveTo>
                  <a:pt x="0" y="76200"/>
                </a:moveTo>
                <a:arcTo hR="76200" wR="76200" stAng="10800000" swAng="5400000"/>
                <a:lnTo>
                  <a:pt x="4458395" y="0"/>
                </a:lnTo>
                <a:lnTo>
                  <a:pt x="4458395" y="457200"/>
                </a:lnTo>
                <a:lnTo>
                  <a:pt x="76200" y="457200"/>
                </a:lnTo>
                <a:arcTo hR="76200" wR="76200" stAng="5400000" swAng="5400000"/>
                <a:close/>
              </a:path>
            </a:pathLst>
          </a:custGeom>
          <a:solidFill>
            <a:srgbClr val="2F7A55"/>
          </a:solidFill>
          <a:ln/>
        </p:spPr>
      </p:sp>
      <p:sp>
        <p:nvSpPr>
          <p:cNvPr id="17" name="Shape 15"/>
          <p:cNvSpPr/>
          <p:nvPr/>
        </p:nvSpPr>
        <p:spPr>
          <a:xfrm>
            <a:off x="5271195" y="2952750"/>
            <a:ext cx="2184598" cy="457200"/>
          </a:xfrm>
          <a:prstGeom prst="rect">
            <a:avLst/>
          </a:prstGeom>
          <a:solidFill>
            <a:srgbClr val="6FA88A"/>
          </a:solidFill>
          <a:ln/>
        </p:spPr>
      </p:sp>
      <p:sp>
        <p:nvSpPr>
          <p:cNvPr id="18" name="Shape 16"/>
          <p:cNvSpPr/>
          <p:nvPr/>
        </p:nvSpPr>
        <p:spPr>
          <a:xfrm>
            <a:off x="7455793" y="2952750"/>
            <a:ext cx="3923407" cy="457200"/>
          </a:xfrm>
          <a:custGeom>
            <a:avLst/>
            <a:gdLst/>
            <a:ahLst/>
            <a:cxnLst/>
            <a:rect l="l" t="t" r="r" b="b"/>
            <a:pathLst>
              <a:path w="3923407" h="457200">
                <a:moveTo>
                  <a:pt x="3847207" y="0"/>
                </a:moveTo>
                <a:arcTo hR="76200" wR="76200" stAng="16200000" swAng="5400000"/>
                <a:lnTo>
                  <a:pt x="3923407" y="381000"/>
                </a:lnTo>
                <a:arcTo hR="76200" wR="76200" stAng="0" swAng="5400000"/>
                <a:lnTo>
                  <a:pt x="0" y="457200"/>
                </a:lnTo>
                <a:lnTo>
                  <a:pt x="0" y="0"/>
                </a:lnTo>
                <a:close/>
              </a:path>
            </a:pathLst>
          </a:custGeom>
          <a:solidFill>
            <a:srgbClr val="A9B0B8"/>
          </a:solidFill>
          <a:ln/>
        </p:spPr>
      </p:sp>
      <p:sp>
        <p:nvSpPr>
          <p:cNvPr id="19" name="Shape 17"/>
          <p:cNvSpPr/>
          <p:nvPr/>
        </p:nvSpPr>
        <p:spPr>
          <a:xfrm>
            <a:off x="812800" y="3638550"/>
            <a:ext cx="3420566" cy="0"/>
          </a:xfrm>
          <a:prstGeom prst="line">
            <a:avLst/>
          </a:prstGeom>
          <a:noFill/>
          <a:ln w="50800">
            <a:solidFill>
              <a:srgbClr val="2F7A55"/>
            </a:solidFill>
            <a:prstDash val="solid"/>
          </a:ln>
        </p:spPr>
      </p:sp>
      <p:sp>
        <p:nvSpPr>
          <p:cNvPr id="20" name="Text 18"/>
          <p:cNvSpPr/>
          <p:nvPr/>
        </p:nvSpPr>
        <p:spPr>
          <a:xfrm>
            <a:off x="812800" y="3765550"/>
            <a:ext cx="3523183"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A3D"/>
                </a:solidFill>
                <a:latin typeface="IBM Plex Sans" pitchFamily="34" charset="0"/>
                <a:ea typeface="IBM Plex Sans" pitchFamily="34" charset="-122"/>
                <a:cs typeface="IBM Plex Sans" pitchFamily="34" charset="-120"/>
              </a:rPr>
              <a:t>$334K</a:t>
            </a:r>
            <a:endParaRPr lang="en-US" sz="2200" dirty="0"/>
          </a:p>
        </p:txBody>
      </p:sp>
      <p:sp>
        <p:nvSpPr>
          <p:cNvPr id="21" name="Text 19"/>
          <p:cNvSpPr/>
          <p:nvPr/>
        </p:nvSpPr>
        <p:spPr>
          <a:xfrm>
            <a:off x="812800" y="4203700"/>
            <a:ext cx="3523183"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2,198 lines. In scope for the federal practitioner edits.</a:t>
            </a:r>
            <a:endParaRPr lang="en-US" sz="1300" dirty="0"/>
          </a:p>
        </p:txBody>
      </p:sp>
      <p:sp>
        <p:nvSpPr>
          <p:cNvPr id="22" name="Shape 20"/>
          <p:cNvSpPr/>
          <p:nvPr/>
        </p:nvSpPr>
        <p:spPr>
          <a:xfrm>
            <a:off x="4385766" y="3638550"/>
            <a:ext cx="3420566" cy="0"/>
          </a:xfrm>
          <a:prstGeom prst="line">
            <a:avLst/>
          </a:prstGeom>
          <a:noFill/>
          <a:ln w="50800">
            <a:solidFill>
              <a:srgbClr val="6FA88A"/>
            </a:solidFill>
            <a:prstDash val="solid"/>
          </a:ln>
        </p:spPr>
      </p:sp>
      <p:sp>
        <p:nvSpPr>
          <p:cNvPr id="23" name="Text 21"/>
          <p:cNvSpPr/>
          <p:nvPr/>
        </p:nvSpPr>
        <p:spPr>
          <a:xfrm>
            <a:off x="4385766" y="3765550"/>
            <a:ext cx="3523183"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A3D"/>
                </a:solidFill>
                <a:latin typeface="IBM Plex Sans" pitchFamily="34" charset="0"/>
                <a:ea typeface="IBM Plex Sans" pitchFamily="34" charset="-122"/>
                <a:cs typeface="IBM Plex Sans" pitchFamily="34" charset="-120"/>
              </a:rPr>
              <a:t>$49K</a:t>
            </a:r>
            <a:endParaRPr lang="en-US" sz="2200" dirty="0"/>
          </a:p>
        </p:txBody>
      </p:sp>
      <p:sp>
        <p:nvSpPr>
          <p:cNvPr id="24" name="Text 22"/>
          <p:cNvSpPr/>
          <p:nvPr/>
        </p:nvSpPr>
        <p:spPr>
          <a:xfrm>
            <a:off x="4385766" y="4203700"/>
            <a:ext cx="3523183"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349 lines. In scope for the federal outpatient edits.</a:t>
            </a:r>
            <a:endParaRPr lang="en-US" sz="1300" dirty="0"/>
          </a:p>
        </p:txBody>
      </p:sp>
      <p:sp>
        <p:nvSpPr>
          <p:cNvPr id="25" name="Shape 23"/>
          <p:cNvSpPr/>
          <p:nvPr/>
        </p:nvSpPr>
        <p:spPr>
          <a:xfrm>
            <a:off x="7958733" y="3638550"/>
            <a:ext cx="3420566" cy="0"/>
          </a:xfrm>
          <a:prstGeom prst="line">
            <a:avLst/>
          </a:prstGeom>
          <a:noFill/>
          <a:ln w="50800">
            <a:solidFill>
              <a:srgbClr val="A9B0B8"/>
            </a:solidFill>
            <a:prstDash val="solid"/>
          </a:ln>
        </p:spPr>
      </p:sp>
      <p:sp>
        <p:nvSpPr>
          <p:cNvPr id="26" name="Text 24"/>
          <p:cNvSpPr/>
          <p:nvPr/>
        </p:nvSpPr>
        <p:spPr>
          <a:xfrm>
            <a:off x="7958733" y="3765550"/>
            <a:ext cx="3523183"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E4A57"/>
                </a:solidFill>
                <a:latin typeface="IBM Plex Sans" pitchFamily="34" charset="0"/>
                <a:ea typeface="IBM Plex Sans" pitchFamily="34" charset="-122"/>
                <a:cs typeface="IBM Plex Sans" pitchFamily="34" charset="-120"/>
              </a:rPr>
              <a:t>$88K</a:t>
            </a:r>
            <a:endParaRPr lang="en-US" sz="2200" dirty="0"/>
          </a:p>
        </p:txBody>
      </p:sp>
      <p:sp>
        <p:nvSpPr>
          <p:cNvPr id="27" name="Text 25"/>
          <p:cNvSpPr/>
          <p:nvPr/>
        </p:nvSpPr>
        <p:spPr>
          <a:xfrm>
            <a:off x="7958733" y="4203700"/>
            <a:ext cx="3523183"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622 lines. </a:t>
            </a:r>
            <a:r>
              <a:rPr lang="en-US" sz="1300" b="1" dirty="0">
                <a:solidFill>
                  <a:srgbClr val="1E2A38"/>
                </a:solidFill>
                <a:latin typeface="IBM Plex Sans" pitchFamily="34" charset="0"/>
                <a:ea typeface="IBM Plex Sans" pitchFamily="34" charset="-122"/>
                <a:cs typeface="IBM Plex Sans" pitchFamily="34" charset="-120"/>
              </a:rPr>
              <a:t>Outside the federal edits PIE applies today</a:t>
            </a:r>
            <a:r>
              <a:rPr lang="en-US" sz="1300" dirty="0">
                <a:solidFill>
                  <a:srgbClr val="1E2A38"/>
                </a:solidFill>
                <a:latin typeface="IBM Plex Sans" pitchFamily="34" charset="0"/>
                <a:ea typeface="IBM Plex Sans" pitchFamily="34" charset="-122"/>
                <a:cs typeface="IBM Plex Sans" pitchFamily="34" charset="-120"/>
              </a:rPr>
              <a:t> (optional CMS provider categories).</a:t>
            </a:r>
            <a:endParaRPr lang="en-US" sz="1300" dirty="0"/>
          </a:p>
        </p:txBody>
      </p:sp>
      <p:sp>
        <p:nvSpPr>
          <p:cNvPr id="28" name="Text 26"/>
          <p:cNvSpPr/>
          <p:nvPr/>
        </p:nvSpPr>
        <p:spPr>
          <a:xfrm>
            <a:off x="812800" y="5092700"/>
            <a:ext cx="10566400" cy="431800"/>
          </a:xfrm>
          <a:prstGeom prst="roundRect">
            <a:avLst>
              <a:gd name="adj" fmla="val 17647"/>
            </a:avLst>
          </a:prstGeom>
          <a:solidFill>
            <a:srgbClr val="F3E3C3"/>
          </a:solidFill>
          <a:ln/>
        </p:spPr>
        <p:txBody>
          <a:bodyPr wrap="square" lIns="130082" tIns="79282" rIns="0" bIns="53882" rtlCol="0" anchor="t">
            <a:normAutofit/>
          </a:bodyPr>
          <a:lstStyle/>
          <a:p>
            <a:pPr algn="l" indent="0" marL="0">
              <a:lnSpc>
                <a:spcPts val="1820"/>
              </a:lnSpc>
              <a:buNone/>
            </a:pPr>
            <a:r>
              <a:rPr lang="en-US" sz="1300" dirty="0">
                <a:solidFill>
                  <a:srgbClr val="6B4A12"/>
                </a:solidFill>
                <a:latin typeface="IBM Plex Sans" pitchFamily="34" charset="0"/>
                <a:ea typeface="IBM Plex Sans" pitchFamily="34" charset="-122"/>
                <a:cs typeface="IBM Plex Sans" pitchFamily="34" charset="-120"/>
              </a:rPr>
              <a:t>Program-wide coverage: [insert verified metric or remove before presenting]</a:t>
            </a:r>
            <a:endParaRPr lang="en-US" sz="1300" dirty="0"/>
          </a:p>
        </p:txBody>
      </p:sp>
      <p:sp>
        <p:nvSpPr>
          <p:cNvPr id="29" name="Text 27"/>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30" name="Text 28"/>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812800" y="812800"/>
            <a:ext cx="1079004" cy="285750"/>
          </a:xfrm>
          <a:prstGeom prst="roundRect">
            <a:avLst>
              <a:gd name="adj" fmla="val 50000"/>
            </a:avLst>
          </a:prstGeom>
          <a:solidFill>
            <a:srgbClr val="E9E6DE"/>
          </a:solidFill>
          <a:ln/>
        </p:spPr>
      </p:sp>
      <p:sp>
        <p:nvSpPr>
          <p:cNvPr id="3" name="Text 1"/>
          <p:cNvSpPr/>
          <p:nvPr/>
        </p:nvSpPr>
        <p:spPr>
          <a:xfrm>
            <a:off x="901700" y="850900"/>
            <a:ext cx="95200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Claim checks</a:t>
            </a:r>
            <a:endParaRPr lang="en-US" sz="1200" dirty="0"/>
          </a:p>
        </p:txBody>
      </p:sp>
      <p:sp>
        <p:nvSpPr>
          <p:cNvPr id="4" name="Shape 2"/>
          <p:cNvSpPr/>
          <p:nvPr/>
        </p:nvSpPr>
        <p:spPr>
          <a:xfrm>
            <a:off x="1942604" y="812800"/>
            <a:ext cx="1031776" cy="285750"/>
          </a:xfrm>
          <a:prstGeom prst="roundRect">
            <a:avLst>
              <a:gd name="adj" fmla="val 50000"/>
            </a:avLst>
          </a:prstGeom>
          <a:solidFill>
            <a:srgbClr val="E9E6DE"/>
          </a:solidFill>
          <a:ln/>
        </p:spPr>
      </p:sp>
      <p:sp>
        <p:nvSpPr>
          <p:cNvPr id="5" name="Text 3"/>
          <p:cNvSpPr/>
          <p:nvPr/>
        </p:nvSpPr>
        <p:spPr>
          <a:xfrm>
            <a:off x="2031504" y="850900"/>
            <a:ext cx="90477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Code lookup</a:t>
            </a:r>
            <a:endParaRPr lang="en-US" sz="1200" dirty="0"/>
          </a:p>
        </p:txBody>
      </p:sp>
      <p:sp>
        <p:nvSpPr>
          <p:cNvPr id="6" name="Shape 4"/>
          <p:cNvSpPr/>
          <p:nvPr/>
        </p:nvSpPr>
        <p:spPr>
          <a:xfrm>
            <a:off x="3025180" y="812800"/>
            <a:ext cx="1647130" cy="285750"/>
          </a:xfrm>
          <a:prstGeom prst="roundRect">
            <a:avLst>
              <a:gd name="adj" fmla="val 50000"/>
            </a:avLst>
          </a:prstGeom>
          <a:solidFill>
            <a:srgbClr val="13243A"/>
          </a:solidFill>
          <a:ln/>
        </p:spPr>
      </p:sp>
      <p:sp>
        <p:nvSpPr>
          <p:cNvPr id="7" name="Text 5"/>
          <p:cNvSpPr/>
          <p:nvPr/>
        </p:nvSpPr>
        <p:spPr>
          <a:xfrm>
            <a:off x="3114080" y="850900"/>
            <a:ext cx="152013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Where sources differ</a:t>
            </a:r>
            <a:endParaRPr lang="en-US" sz="1200" dirty="0"/>
          </a:p>
        </p:txBody>
      </p:sp>
      <p:sp>
        <p:nvSpPr>
          <p:cNvPr id="8" name="Shape 6"/>
          <p:cNvSpPr/>
          <p:nvPr/>
        </p:nvSpPr>
        <p:spPr>
          <a:xfrm>
            <a:off x="4723110" y="812800"/>
            <a:ext cx="1588591" cy="285750"/>
          </a:xfrm>
          <a:prstGeom prst="roundRect">
            <a:avLst>
              <a:gd name="adj" fmla="val 50000"/>
            </a:avLst>
          </a:prstGeom>
          <a:solidFill>
            <a:srgbClr val="E9E6DE"/>
          </a:solidFill>
          <a:ln/>
        </p:spPr>
      </p:sp>
      <p:sp>
        <p:nvSpPr>
          <p:cNvPr id="9" name="Text 7"/>
          <p:cNvSpPr/>
          <p:nvPr/>
        </p:nvSpPr>
        <p:spPr>
          <a:xfrm>
            <a:off x="4812010" y="850900"/>
            <a:ext cx="146159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update review</a:t>
            </a:r>
            <a:endParaRPr lang="en-US" sz="1200" dirty="0"/>
          </a:p>
        </p:txBody>
      </p:sp>
      <p:sp>
        <p:nvSpPr>
          <p:cNvPr id="10" name="Shape 8"/>
          <p:cNvSpPr/>
          <p:nvPr/>
        </p:nvSpPr>
        <p:spPr>
          <a:xfrm>
            <a:off x="6362502" y="812800"/>
            <a:ext cx="932061" cy="285750"/>
          </a:xfrm>
          <a:prstGeom prst="roundRect">
            <a:avLst>
              <a:gd name="adj" fmla="val 50000"/>
            </a:avLst>
          </a:prstGeom>
          <a:solidFill>
            <a:srgbClr val="E9E6DE"/>
          </a:solidFill>
          <a:ln/>
        </p:spPr>
      </p:sp>
      <p:sp>
        <p:nvSpPr>
          <p:cNvPr id="11" name="Text 9"/>
          <p:cNvSpPr/>
          <p:nvPr/>
        </p:nvSpPr>
        <p:spPr>
          <a:xfrm>
            <a:off x="6451402" y="850900"/>
            <a:ext cx="80506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Q&amp;A</a:t>
            </a:r>
            <a:endParaRPr lang="en-US" sz="1200" dirty="0"/>
          </a:p>
        </p:txBody>
      </p:sp>
      <p:sp>
        <p:nvSpPr>
          <p:cNvPr id="12" name="Shape 10"/>
          <p:cNvSpPr/>
          <p:nvPr/>
        </p:nvSpPr>
        <p:spPr>
          <a:xfrm>
            <a:off x="7345363" y="812800"/>
            <a:ext cx="1689795" cy="285750"/>
          </a:xfrm>
          <a:prstGeom prst="roundRect">
            <a:avLst>
              <a:gd name="adj" fmla="val 50000"/>
            </a:avLst>
          </a:prstGeom>
          <a:solidFill>
            <a:srgbClr val="E9E6DE"/>
          </a:solidFill>
          <a:ln/>
        </p:spPr>
      </p:sp>
      <p:sp>
        <p:nvSpPr>
          <p:cNvPr id="13" name="Text 11"/>
          <p:cNvSpPr/>
          <p:nvPr/>
        </p:nvSpPr>
        <p:spPr>
          <a:xfrm>
            <a:off x="7434263" y="850900"/>
            <a:ext cx="156279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Anomaly explanations</a:t>
            </a:r>
            <a:endParaRPr lang="en-US" sz="1200" dirty="0"/>
          </a:p>
        </p:txBody>
      </p:sp>
      <p:sp>
        <p:nvSpPr>
          <p:cNvPr id="14" name="Text 12"/>
          <p:cNvSpPr/>
          <p:nvPr>
            <p:ph type="title"/>
          </p:nvPr>
        </p:nvSpPr>
        <p:spPr>
          <a:xfrm>
            <a:off x="812800" y="12001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Comparing sources can reveal differences that warrant policy-owner review.</a:t>
            </a:r>
            <a:endParaRPr lang="en-US" sz="3000" dirty="0"/>
          </a:p>
        </p:txBody>
      </p:sp>
      <p:sp>
        <p:nvSpPr>
          <p:cNvPr id="15" name="Shape 13"/>
          <p:cNvSpPr/>
          <p:nvPr/>
        </p:nvSpPr>
        <p:spPr>
          <a:xfrm>
            <a:off x="812800" y="2260600"/>
            <a:ext cx="10566400" cy="0"/>
          </a:xfrm>
          <a:prstGeom prst="line">
            <a:avLst/>
          </a:prstGeom>
          <a:noFill/>
          <a:ln w="12700">
            <a:solidFill>
              <a:srgbClr val="141413">
                <a:alpha val="22000"/>
              </a:srgbClr>
            </a:solidFill>
            <a:prstDash val="solid"/>
          </a:ln>
        </p:spPr>
      </p:sp>
      <p:sp>
        <p:nvSpPr>
          <p:cNvPr id="16" name="Shape 14"/>
          <p:cNvSpPr/>
          <p:nvPr/>
        </p:nvSpPr>
        <p:spPr>
          <a:xfrm>
            <a:off x="819150" y="2254250"/>
            <a:ext cx="0" cy="2212975"/>
          </a:xfrm>
          <a:prstGeom prst="line">
            <a:avLst/>
          </a:prstGeom>
          <a:noFill/>
          <a:ln w="12700">
            <a:solidFill>
              <a:srgbClr val="141413">
                <a:alpha val="22000"/>
              </a:srgbClr>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39800" y="2355850"/>
          <a:ext cx="10325100" cy="2022475"/>
        </p:xfrm>
        <a:graphic>
          <a:graphicData uri="http://schemas.openxmlformats.org/drawingml/2006/table">
            <a:tbl>
              <a:tblPr/>
              <a:tblGrid>
                <a:gridCol w="2271522"/>
                <a:gridCol w="2787777"/>
                <a:gridCol w="2787777"/>
                <a:gridCol w="2478024"/>
              </a:tblGrid>
              <a:tr h="359271">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Topic</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One source says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Another source says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Next 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Same-day billing</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Ch. 19: 13 code pairs not allowed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Newer Same Day table: allowed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2A5D7C"/>
                          </a:solidFill>
                          <a:latin typeface="IBM Plex Sans" pitchFamily="34" charset="0"/>
                          <a:ea typeface="IBM Plex Sans" pitchFamily="34" charset="-122"/>
                          <a:cs typeface="IBM Plex Sans" pitchFamily="34" charset="-120"/>
                        </a:rPr>
                        <a:t>Checks held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Methadone (H0020)</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Ch. 19: 5 provider types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B2 matrix: 7 provider types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2A5D7C"/>
                          </a:solidFill>
                          <a:latin typeface="IBM Plex Sans" pitchFamily="34" charset="0"/>
                          <a:ea typeface="IBM Plex Sans" pitchFamily="34" charset="-122"/>
                          <a:cs typeface="IBM Plex Sans" pitchFamily="34" charset="-120"/>
                        </a:rPr>
                        <a:t>Ask policy owners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58539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Partial hospital (H0035)</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Ch. 19: 4 provider types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B2 matrix and BH guide: one type differs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820"/>
                        </a:lnSpc>
                        <a:buNone/>
                      </a:pPr>
                      <a:r>
                        <a:rPr lang="en-US" sz="1300" dirty="0">
                          <a:solidFill>
                            <a:srgbClr val="2A5D7C"/>
                          </a:solidFill>
                          <a:latin typeface="IBM Plex Sans" pitchFamily="34" charset="0"/>
                          <a:ea typeface="IBM Plex Sans" pitchFamily="34" charset="-122"/>
                          <a:cs typeface="IBM Plex Sans" pitchFamily="34" charset="-120"/>
                        </a:rPr>
                        <a:t>Confirm which applies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Dental claim form</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Ch. 7: 2012 version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Ch. 10: 2024 version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2A5D7C"/>
                          </a:solidFill>
                          <a:latin typeface="IBM Plex Sans" pitchFamily="34" charset="0"/>
                          <a:ea typeface="IBM Plex Sans" pitchFamily="34" charset="-122"/>
                          <a:cs typeface="IBM Plex Sans" pitchFamily="34" charset="-120"/>
                        </a:rPr>
                        <a:t>Confirm current 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bl>
          </a:graphicData>
        </a:graphic>
      </p:graphicFrame>
      <p:pic>
        <p:nvPicPr>
          <p:cNvPr id="18" name="Image 0" descr="rect">    </p:cNvPr>
          <p:cNvPicPr>
            <a:picLocks noChangeAspect="1"/>
          </p:cNvPicPr>
          <p:nvPr/>
        </p:nvPicPr>
        <p:blipFill>
          <a:blip r:embed="rId1"/>
          <a:srcRect l="0" r="0" t="-493" b="-493"/>
          <a:stretch/>
        </p:blipFill>
        <p:spPr>
          <a:xfrm>
            <a:off x="812800" y="4740275"/>
            <a:ext cx="100608" cy="355600"/>
          </a:xfrm>
          <a:prstGeom prst="rect">
            <a:avLst/>
          </a:prstGeom>
        </p:spPr>
      </p:pic>
      <p:sp>
        <p:nvSpPr>
          <p:cNvPr id="19" name="Text 15"/>
          <p:cNvSpPr/>
          <p:nvPr/>
        </p:nvSpPr>
        <p:spPr>
          <a:xfrm>
            <a:off x="1015008" y="4670425"/>
            <a:ext cx="10675118"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7"/>
                </a:solidFill>
                <a:latin typeface="IBM Plex Sans" pitchFamily="34" charset="0"/>
                <a:ea typeface="IBM Plex Sans" pitchFamily="34" charset="-122"/>
                <a:cs typeface="IBM Plex Sans" pitchFamily="34" charset="-120"/>
              </a:rPr>
              <a:t>Differences are questions for policy owners, not evidence that a source is incorrect. Consolidated review tracking is planned.</a:t>
            </a:r>
            <a:endParaRPr lang="en-US" sz="1400" dirty="0"/>
          </a:p>
        </p:txBody>
      </p:sp>
      <p:sp>
        <p:nvSpPr>
          <p:cNvPr id="20" name="Text 16"/>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21" name="Text 17"/>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812800" y="812800"/>
            <a:ext cx="1079004" cy="285750"/>
          </a:xfrm>
          <a:prstGeom prst="roundRect">
            <a:avLst>
              <a:gd name="adj" fmla="val 50000"/>
            </a:avLst>
          </a:prstGeom>
          <a:solidFill>
            <a:srgbClr val="E9E6DE"/>
          </a:solidFill>
          <a:ln/>
        </p:spPr>
      </p:sp>
      <p:sp>
        <p:nvSpPr>
          <p:cNvPr id="3" name="Text 1"/>
          <p:cNvSpPr/>
          <p:nvPr/>
        </p:nvSpPr>
        <p:spPr>
          <a:xfrm>
            <a:off x="901700" y="850900"/>
            <a:ext cx="95200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Claim checks</a:t>
            </a:r>
            <a:endParaRPr lang="en-US" sz="1200" dirty="0"/>
          </a:p>
        </p:txBody>
      </p:sp>
      <p:sp>
        <p:nvSpPr>
          <p:cNvPr id="4" name="Shape 2"/>
          <p:cNvSpPr/>
          <p:nvPr/>
        </p:nvSpPr>
        <p:spPr>
          <a:xfrm>
            <a:off x="1942604" y="812800"/>
            <a:ext cx="1031776" cy="285750"/>
          </a:xfrm>
          <a:prstGeom prst="roundRect">
            <a:avLst>
              <a:gd name="adj" fmla="val 50000"/>
            </a:avLst>
          </a:prstGeom>
          <a:solidFill>
            <a:srgbClr val="E9E6DE"/>
          </a:solidFill>
          <a:ln/>
        </p:spPr>
      </p:sp>
      <p:sp>
        <p:nvSpPr>
          <p:cNvPr id="5" name="Text 3"/>
          <p:cNvSpPr/>
          <p:nvPr/>
        </p:nvSpPr>
        <p:spPr>
          <a:xfrm>
            <a:off x="2031504" y="850900"/>
            <a:ext cx="90477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Code lookup</a:t>
            </a:r>
            <a:endParaRPr lang="en-US" sz="1200" dirty="0"/>
          </a:p>
        </p:txBody>
      </p:sp>
      <p:sp>
        <p:nvSpPr>
          <p:cNvPr id="6" name="Shape 4"/>
          <p:cNvSpPr/>
          <p:nvPr/>
        </p:nvSpPr>
        <p:spPr>
          <a:xfrm>
            <a:off x="3025180" y="812800"/>
            <a:ext cx="1593751" cy="285750"/>
          </a:xfrm>
          <a:prstGeom prst="roundRect">
            <a:avLst>
              <a:gd name="adj" fmla="val 50000"/>
            </a:avLst>
          </a:prstGeom>
          <a:solidFill>
            <a:srgbClr val="E9E6DE"/>
          </a:solidFill>
          <a:ln/>
        </p:spPr>
      </p:sp>
      <p:sp>
        <p:nvSpPr>
          <p:cNvPr id="7" name="Text 5"/>
          <p:cNvSpPr/>
          <p:nvPr/>
        </p:nvSpPr>
        <p:spPr>
          <a:xfrm>
            <a:off x="3114080" y="850900"/>
            <a:ext cx="146675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Where sources differ</a:t>
            </a:r>
            <a:endParaRPr lang="en-US" sz="1200" dirty="0"/>
          </a:p>
        </p:txBody>
      </p:sp>
      <p:sp>
        <p:nvSpPr>
          <p:cNvPr id="8" name="Shape 6"/>
          <p:cNvSpPr/>
          <p:nvPr/>
        </p:nvSpPr>
        <p:spPr>
          <a:xfrm>
            <a:off x="4669730" y="812800"/>
            <a:ext cx="1588591" cy="285750"/>
          </a:xfrm>
          <a:prstGeom prst="roundRect">
            <a:avLst>
              <a:gd name="adj" fmla="val 50000"/>
            </a:avLst>
          </a:prstGeom>
          <a:solidFill>
            <a:srgbClr val="E9E6DE"/>
          </a:solidFill>
          <a:ln/>
        </p:spPr>
      </p:sp>
      <p:sp>
        <p:nvSpPr>
          <p:cNvPr id="9" name="Text 7"/>
          <p:cNvSpPr/>
          <p:nvPr/>
        </p:nvSpPr>
        <p:spPr>
          <a:xfrm>
            <a:off x="4758630" y="850900"/>
            <a:ext cx="146159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update review</a:t>
            </a:r>
            <a:endParaRPr lang="en-US" sz="1200" dirty="0"/>
          </a:p>
        </p:txBody>
      </p:sp>
      <p:sp>
        <p:nvSpPr>
          <p:cNvPr id="10" name="Shape 8"/>
          <p:cNvSpPr/>
          <p:nvPr/>
        </p:nvSpPr>
        <p:spPr>
          <a:xfrm>
            <a:off x="6309122" y="812800"/>
            <a:ext cx="958652" cy="285750"/>
          </a:xfrm>
          <a:prstGeom prst="roundRect">
            <a:avLst>
              <a:gd name="adj" fmla="val 50000"/>
            </a:avLst>
          </a:prstGeom>
          <a:solidFill>
            <a:srgbClr val="13243A"/>
          </a:solidFill>
          <a:ln/>
        </p:spPr>
      </p:sp>
      <p:sp>
        <p:nvSpPr>
          <p:cNvPr id="11" name="Text 9"/>
          <p:cNvSpPr/>
          <p:nvPr/>
        </p:nvSpPr>
        <p:spPr>
          <a:xfrm>
            <a:off x="6398022" y="850900"/>
            <a:ext cx="83165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Policy Q&amp;A</a:t>
            </a:r>
            <a:endParaRPr lang="en-US" sz="1200" dirty="0"/>
          </a:p>
        </p:txBody>
      </p:sp>
      <p:sp>
        <p:nvSpPr>
          <p:cNvPr id="12" name="Shape 10"/>
          <p:cNvSpPr/>
          <p:nvPr/>
        </p:nvSpPr>
        <p:spPr>
          <a:xfrm>
            <a:off x="7318573" y="812800"/>
            <a:ext cx="1746945" cy="285750"/>
          </a:xfrm>
          <a:prstGeom prst="roundRect">
            <a:avLst>
              <a:gd name="adj" fmla="val 50000"/>
            </a:avLst>
          </a:prstGeom>
          <a:solidFill>
            <a:srgbClr val="13243A"/>
          </a:solidFill>
          <a:ln/>
        </p:spPr>
      </p:sp>
      <p:sp>
        <p:nvSpPr>
          <p:cNvPr id="13" name="Text 11"/>
          <p:cNvSpPr/>
          <p:nvPr/>
        </p:nvSpPr>
        <p:spPr>
          <a:xfrm>
            <a:off x="7407473" y="850900"/>
            <a:ext cx="16199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Anomaly explanations</a:t>
            </a:r>
            <a:endParaRPr lang="en-US" sz="1200" dirty="0"/>
          </a:p>
        </p:txBody>
      </p:sp>
      <p:sp>
        <p:nvSpPr>
          <p:cNvPr id="14" name="Text 12"/>
          <p:cNvSpPr/>
          <p:nvPr>
            <p:ph type="title"/>
          </p:nvPr>
        </p:nvSpPr>
        <p:spPr>
          <a:xfrm>
            <a:off x="812800" y="12001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Next: policy-aware answers and richer anomaly explanations from the same validated knowledge base.</a:t>
            </a:r>
            <a:endParaRPr lang="en-US" sz="3000" dirty="0"/>
          </a:p>
        </p:txBody>
      </p:sp>
      <p:sp>
        <p:nvSpPr>
          <p:cNvPr id="15" name="Shape 13"/>
          <p:cNvSpPr/>
          <p:nvPr/>
        </p:nvSpPr>
        <p:spPr>
          <a:xfrm>
            <a:off x="815975" y="2282825"/>
            <a:ext cx="5175250" cy="2432050"/>
          </a:xfrm>
          <a:prstGeom prst="roundRect">
            <a:avLst>
              <a:gd name="adj" fmla="val 4047"/>
            </a:avLst>
          </a:prstGeom>
          <a:solidFill>
            <a:srgbClr val="FCFBF8"/>
          </a:solidFill>
          <a:ln w="6350">
            <a:solidFill>
              <a:srgbClr val="DAD6CC"/>
            </a:solidFill>
            <a:prstDash val="solid"/>
          </a:ln>
        </p:spPr>
      </p:sp>
      <p:sp>
        <p:nvSpPr>
          <p:cNvPr id="16" name="Text 14"/>
          <p:cNvSpPr/>
          <p:nvPr/>
        </p:nvSpPr>
        <p:spPr>
          <a:xfrm>
            <a:off x="1047750" y="2514600"/>
            <a:ext cx="140541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43A"/>
                </a:solidFill>
                <a:latin typeface="IBM Plex Sans" pitchFamily="34" charset="0"/>
                <a:ea typeface="IBM Plex Sans" pitchFamily="34" charset="-122"/>
                <a:cs typeface="IBM Plex Sans" pitchFamily="34" charset="-120"/>
              </a:rPr>
              <a:t>Policy Q&amp;A</a:t>
            </a:r>
            <a:endParaRPr lang="en-US" sz="1800" dirty="0"/>
          </a:p>
        </p:txBody>
      </p:sp>
      <p:sp>
        <p:nvSpPr>
          <p:cNvPr id="17" name="Shape 15"/>
          <p:cNvSpPr/>
          <p:nvPr/>
        </p:nvSpPr>
        <p:spPr>
          <a:xfrm>
            <a:off x="5223966" y="2520950"/>
            <a:ext cx="535484" cy="260350"/>
          </a:xfrm>
          <a:prstGeom prst="roundRect">
            <a:avLst>
              <a:gd name="adj" fmla="val 50000"/>
            </a:avLst>
          </a:prstGeom>
          <a:solidFill>
            <a:srgbClr val="E3E7EC"/>
          </a:solidFill>
          <a:ln/>
        </p:spPr>
      </p:sp>
      <p:sp>
        <p:nvSpPr>
          <p:cNvPr id="18" name="Text 16"/>
          <p:cNvSpPr/>
          <p:nvPr/>
        </p:nvSpPr>
        <p:spPr>
          <a:xfrm>
            <a:off x="5325566" y="2546350"/>
            <a:ext cx="38308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7"/>
                </a:solidFill>
                <a:latin typeface="IBM Plex Sans" pitchFamily="34" charset="0"/>
                <a:ea typeface="IBM Plex Sans" pitchFamily="34" charset="-122"/>
                <a:cs typeface="IBM Plex Sans" pitchFamily="34" charset="-120"/>
              </a:rPr>
              <a:t>Next</a:t>
            </a:r>
            <a:endParaRPr lang="en-US" sz="1200" dirty="0"/>
          </a:p>
        </p:txBody>
      </p:sp>
      <p:sp>
        <p:nvSpPr>
          <p:cNvPr id="19" name="Text 17"/>
          <p:cNvSpPr/>
          <p:nvPr/>
        </p:nvSpPr>
        <p:spPr>
          <a:xfrm>
            <a:off x="1047750" y="2901950"/>
            <a:ext cx="4853051" cy="48260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3E4A57"/>
                </a:solidFill>
                <a:latin typeface="IBM Plex Sans" pitchFamily="34" charset="0"/>
                <a:ea typeface="IBM Plex Sans" pitchFamily="34" charset="-122"/>
                <a:cs typeface="IBM Plex Sans" pitchFamily="34" charset="-120"/>
              </a:rPr>
              <a:t>“What rules apply when two services are billed on the same day?”</a:t>
            </a:r>
            <a:endParaRPr lang="en-US" sz="1300" dirty="0"/>
          </a:p>
        </p:txBody>
      </p:sp>
      <p:sp>
        <p:nvSpPr>
          <p:cNvPr id="20" name="Text 18"/>
          <p:cNvSpPr/>
          <p:nvPr/>
        </p:nvSpPr>
        <p:spPr>
          <a:xfrm>
            <a:off x="1047750" y="3473450"/>
            <a:ext cx="4853051"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Answers cite the source, page, and effective dates, and identify uncertainty or conflicting guidance.</a:t>
            </a:r>
            <a:endParaRPr lang="en-US" sz="1300" dirty="0"/>
          </a:p>
        </p:txBody>
      </p:sp>
      <p:sp>
        <p:nvSpPr>
          <p:cNvPr id="21" name="Text 19"/>
          <p:cNvSpPr/>
          <p:nvPr/>
        </p:nvSpPr>
        <p:spPr>
          <a:xfrm>
            <a:off x="1047750" y="4273550"/>
            <a:ext cx="485305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Today: keyword search across the manual.</a:t>
            </a:r>
            <a:endParaRPr lang="en-US" sz="1200" dirty="0"/>
          </a:p>
        </p:txBody>
      </p:sp>
      <p:sp>
        <p:nvSpPr>
          <p:cNvPr id="22" name="Shape 20"/>
          <p:cNvSpPr/>
          <p:nvPr/>
        </p:nvSpPr>
        <p:spPr>
          <a:xfrm>
            <a:off x="6200775" y="2282825"/>
            <a:ext cx="5175250" cy="2432050"/>
          </a:xfrm>
          <a:prstGeom prst="roundRect">
            <a:avLst>
              <a:gd name="adj" fmla="val 4047"/>
            </a:avLst>
          </a:prstGeom>
          <a:solidFill>
            <a:srgbClr val="FCFBF8"/>
          </a:solidFill>
          <a:ln w="6350">
            <a:solidFill>
              <a:srgbClr val="DAD6CC"/>
            </a:solidFill>
            <a:prstDash val="solid"/>
          </a:ln>
        </p:spPr>
      </p:sp>
      <p:sp>
        <p:nvSpPr>
          <p:cNvPr id="23" name="Text 21"/>
          <p:cNvSpPr/>
          <p:nvPr/>
        </p:nvSpPr>
        <p:spPr>
          <a:xfrm>
            <a:off x="6432550" y="2514600"/>
            <a:ext cx="2824520"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43A"/>
                </a:solidFill>
                <a:latin typeface="IBM Plex Sans" pitchFamily="34" charset="0"/>
                <a:ea typeface="IBM Plex Sans" pitchFamily="34" charset="-122"/>
                <a:cs typeface="IBM Plex Sans" pitchFamily="34" charset="-120"/>
              </a:rPr>
              <a:t>Anomaly explanations</a:t>
            </a:r>
            <a:endParaRPr lang="en-US" sz="1800" dirty="0"/>
          </a:p>
        </p:txBody>
      </p:sp>
      <p:sp>
        <p:nvSpPr>
          <p:cNvPr id="24" name="Shape 22"/>
          <p:cNvSpPr/>
          <p:nvPr/>
        </p:nvSpPr>
        <p:spPr>
          <a:xfrm>
            <a:off x="10608766" y="2520950"/>
            <a:ext cx="535484" cy="260350"/>
          </a:xfrm>
          <a:prstGeom prst="roundRect">
            <a:avLst>
              <a:gd name="adj" fmla="val 50000"/>
            </a:avLst>
          </a:prstGeom>
          <a:solidFill>
            <a:srgbClr val="E3E7EC"/>
          </a:solidFill>
          <a:ln/>
        </p:spPr>
      </p:sp>
      <p:sp>
        <p:nvSpPr>
          <p:cNvPr id="25" name="Text 23"/>
          <p:cNvSpPr/>
          <p:nvPr/>
        </p:nvSpPr>
        <p:spPr>
          <a:xfrm>
            <a:off x="10710366" y="2546350"/>
            <a:ext cx="38308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7"/>
                </a:solidFill>
                <a:latin typeface="IBM Plex Sans" pitchFamily="34" charset="0"/>
                <a:ea typeface="IBM Plex Sans" pitchFamily="34" charset="-122"/>
                <a:cs typeface="IBM Plex Sans" pitchFamily="34" charset="-120"/>
              </a:rPr>
              <a:t>Next</a:t>
            </a:r>
            <a:endParaRPr lang="en-US" sz="1200" dirty="0"/>
          </a:p>
        </p:txBody>
      </p:sp>
      <p:sp>
        <p:nvSpPr>
          <p:cNvPr id="26" name="Text 24"/>
          <p:cNvSpPr/>
          <p:nvPr/>
        </p:nvSpPr>
        <p:spPr>
          <a:xfrm>
            <a:off x="6432550" y="2901950"/>
            <a:ext cx="4853051"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Today: anomaly summaries describe how a provider differs from peers.</a:t>
            </a:r>
            <a:endParaRPr lang="en-US" sz="1300" dirty="0"/>
          </a:p>
        </p:txBody>
      </p:sp>
      <p:sp>
        <p:nvSpPr>
          <p:cNvPr id="27" name="Text 25"/>
          <p:cNvSpPr/>
          <p:nvPr/>
        </p:nvSpPr>
        <p:spPr>
          <a:xfrm>
            <a:off x="6432550" y="3473450"/>
            <a:ext cx="4853051"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Next: add applicable policy requirements, conditions, and citations.</a:t>
            </a:r>
            <a:endParaRPr lang="en-US" sz="1300" dirty="0"/>
          </a:p>
        </p:txBody>
      </p:sp>
      <p:sp>
        <p:nvSpPr>
          <p:cNvPr id="28" name="Text 26"/>
          <p:cNvSpPr/>
          <p:nvPr/>
        </p:nvSpPr>
        <p:spPr>
          <a:xfrm>
            <a:off x="6432550" y="4044950"/>
            <a:ext cx="485305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Next, once the knowledge base is validated.</a:t>
            </a:r>
            <a:endParaRPr lang="en-US" sz="1200" dirty="0"/>
          </a:p>
        </p:txBody>
      </p:sp>
      <p:sp>
        <p:nvSpPr>
          <p:cNvPr id="29" name="Text 27"/>
          <p:cNvSpPr/>
          <p:nvPr/>
        </p:nvSpPr>
        <p:spPr>
          <a:xfrm>
            <a:off x="812800" y="494665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7"/>
                </a:solidFill>
                <a:latin typeface="IBM Plex Sans" pitchFamily="34" charset="0"/>
                <a:ea typeface="IBM Plex Sans" pitchFamily="34" charset="-122"/>
                <a:cs typeface="IBM Plex Sans" pitchFamily="34" charset="-120"/>
              </a:rPr>
              <a:t>Safeguard: no validated source, no definitive policy conclusion.</a:t>
            </a:r>
            <a:r>
              <a:rPr lang="en-US" sz="1400" dirty="0">
                <a:solidFill>
                  <a:srgbClr val="3E4A57"/>
                </a:solidFill>
                <a:latin typeface="IBM Plex Sans" pitchFamily="34" charset="0"/>
                <a:ea typeface="IBM Plex Sans" pitchFamily="34" charset="-122"/>
                <a:cs typeface="IBM Plex Sans" pitchFamily="34" charset="-120"/>
              </a:rPr>
              <a:t/>
            </a:r>
            <a:endParaRPr lang="en-US" sz="1400" dirty="0"/>
          </a:p>
        </p:txBody>
      </p:sp>
      <p:sp>
        <p:nvSpPr>
          <p:cNvPr id="30" name="Text 28"/>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31" name="Text 29"/>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WHERE WE ARE</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The foundation is operational. Policy validation is the key next milestone.</a:t>
            </a:r>
            <a:endParaRPr lang="en-US" sz="3000" dirty="0"/>
          </a:p>
        </p:txBody>
      </p:sp>
      <p:sp>
        <p:nvSpPr>
          <p:cNvPr id="4" name="Shape 2"/>
          <p:cNvSpPr/>
          <p:nvPr/>
        </p:nvSpPr>
        <p:spPr>
          <a:xfrm>
            <a:off x="815975" y="2232025"/>
            <a:ext cx="3414216" cy="2933700"/>
          </a:xfrm>
          <a:prstGeom prst="roundRect">
            <a:avLst>
              <a:gd name="adj" fmla="val 3355"/>
            </a:avLst>
          </a:prstGeom>
          <a:solidFill>
            <a:srgbClr val="FCFBF8"/>
          </a:solidFill>
          <a:ln w="6350">
            <a:solidFill>
              <a:srgbClr val="DAD6CC"/>
            </a:solidFill>
            <a:prstDash val="solid"/>
          </a:ln>
        </p:spPr>
      </p:sp>
      <p:sp>
        <p:nvSpPr>
          <p:cNvPr id="5" name="Shape 3"/>
          <p:cNvSpPr/>
          <p:nvPr/>
        </p:nvSpPr>
        <p:spPr>
          <a:xfrm>
            <a:off x="1022350" y="2438400"/>
            <a:ext cx="972443" cy="311150"/>
          </a:xfrm>
          <a:prstGeom prst="roundRect">
            <a:avLst>
              <a:gd name="adj" fmla="val 50000"/>
            </a:avLst>
          </a:prstGeom>
          <a:solidFill>
            <a:srgbClr val="DCEBE2"/>
          </a:solidFill>
          <a:ln/>
        </p:spPr>
      </p:sp>
      <p:sp>
        <p:nvSpPr>
          <p:cNvPr id="6" name="Text 4"/>
          <p:cNvSpPr/>
          <p:nvPr/>
        </p:nvSpPr>
        <p:spPr>
          <a:xfrm>
            <a:off x="1149350" y="2489200"/>
            <a:ext cx="76924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A3D"/>
                </a:solidFill>
                <a:latin typeface="IBM Plex Sans" pitchFamily="34" charset="0"/>
                <a:ea typeface="IBM Plex Sans" pitchFamily="34" charset="-122"/>
                <a:cs typeface="IBM Plex Sans" pitchFamily="34" charset="-120"/>
              </a:rPr>
              <a:t>Live today</a:t>
            </a:r>
            <a:endParaRPr lang="en-US" sz="1200" dirty="0"/>
          </a:p>
        </p:txBody>
      </p:sp>
      <p:sp>
        <p:nvSpPr>
          <p:cNvPr id="7" name="Text 5"/>
          <p:cNvSpPr/>
          <p:nvPr/>
        </p:nvSpPr>
        <p:spPr>
          <a:xfrm>
            <a:off x="1022350" y="2876550"/>
            <a:ext cx="3091510"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Knowledge base: 269 rules signed by the project lead, each with its source and page</a:t>
            </a:r>
            <a:endParaRPr lang="en-US" sz="1300" dirty="0"/>
          </a:p>
        </p:txBody>
      </p:sp>
      <p:sp>
        <p:nvSpPr>
          <p:cNvPr id="8" name="Text 6"/>
          <p:cNvSpPr/>
          <p:nvPr/>
        </p:nvSpPr>
        <p:spPr>
          <a:xfrm>
            <a:off x="1022350" y="3689350"/>
            <a:ext cx="3204666"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Claim checks: </a:t>
            </a:r>
            <a:r>
              <a:rPr lang="en-US" sz="1300" b="1" dirty="0">
                <a:solidFill>
                  <a:srgbClr val="1E2A38"/>
                </a:solidFill>
                <a:latin typeface="IBM Plex Sans" pitchFamily="34" charset="0"/>
                <a:ea typeface="IBM Plex Sans" pitchFamily="34" charset="-122"/>
                <a:cs typeface="IBM Plex Sans" pitchFamily="34" charset="-120"/>
              </a:rPr>
              <a:t>42</a:t>
            </a:r>
            <a:r>
              <a:rPr lang="en-US" sz="1300" dirty="0">
                <a:solidFill>
                  <a:srgbClr val="1E2A38"/>
                </a:solidFill>
                <a:latin typeface="IBM Plex Sans" pitchFamily="34" charset="0"/>
                <a:ea typeface="IBM Plex Sans" pitchFamily="34" charset="-122"/>
                <a:cs typeface="IBM Plex Sans" pitchFamily="34" charset="-120"/>
              </a:rPr>
              <a:t> running on paid claims</a:t>
            </a:r>
            <a:endParaRPr lang="en-US" sz="1300" dirty="0"/>
          </a:p>
        </p:txBody>
      </p:sp>
      <p:sp>
        <p:nvSpPr>
          <p:cNvPr id="9" name="Text 7"/>
          <p:cNvSpPr/>
          <p:nvPr/>
        </p:nvSpPr>
        <p:spPr>
          <a:xfrm>
            <a:off x="1022350" y="4044950"/>
            <a:ext cx="3091510"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Code lookup</a:t>
            </a:r>
            <a:endParaRPr lang="en-US" sz="1300" dirty="0"/>
          </a:p>
        </p:txBody>
      </p:sp>
      <p:sp>
        <p:nvSpPr>
          <p:cNvPr id="10" name="Text 8"/>
          <p:cNvSpPr/>
          <p:nvPr/>
        </p:nvSpPr>
        <p:spPr>
          <a:xfrm>
            <a:off x="1022350" y="4400550"/>
            <a:ext cx="3091510"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Policy update review</a:t>
            </a:r>
            <a:endParaRPr lang="en-US" sz="1300" dirty="0"/>
          </a:p>
        </p:txBody>
      </p:sp>
      <p:sp>
        <p:nvSpPr>
          <p:cNvPr id="11" name="Shape 9"/>
          <p:cNvSpPr/>
          <p:nvPr/>
        </p:nvSpPr>
        <p:spPr>
          <a:xfrm>
            <a:off x="4388941" y="2232025"/>
            <a:ext cx="3414216" cy="2933700"/>
          </a:xfrm>
          <a:prstGeom prst="roundRect">
            <a:avLst>
              <a:gd name="adj" fmla="val 3355"/>
            </a:avLst>
          </a:prstGeom>
          <a:solidFill>
            <a:srgbClr val="FCFBF8"/>
          </a:solidFill>
          <a:ln w="6350">
            <a:solidFill>
              <a:srgbClr val="DAD6CC"/>
            </a:solidFill>
            <a:prstDash val="solid"/>
          </a:ln>
        </p:spPr>
      </p:sp>
      <p:sp>
        <p:nvSpPr>
          <p:cNvPr id="12" name="Shape 10"/>
          <p:cNvSpPr/>
          <p:nvPr/>
        </p:nvSpPr>
        <p:spPr>
          <a:xfrm>
            <a:off x="4595316" y="2438400"/>
            <a:ext cx="2347516" cy="311150"/>
          </a:xfrm>
          <a:prstGeom prst="roundRect">
            <a:avLst>
              <a:gd name="adj" fmla="val 50000"/>
            </a:avLst>
          </a:prstGeom>
          <a:solidFill>
            <a:srgbClr val="F3E3C3"/>
          </a:solidFill>
          <a:ln/>
        </p:spPr>
      </p:sp>
      <p:sp>
        <p:nvSpPr>
          <p:cNvPr id="13" name="Text 11"/>
          <p:cNvSpPr/>
          <p:nvPr/>
        </p:nvSpPr>
        <p:spPr>
          <a:xfrm>
            <a:off x="4722316" y="2489200"/>
            <a:ext cx="215632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A12"/>
                </a:solidFill>
                <a:latin typeface="IBM Plex Sans" pitchFamily="34" charset="0"/>
                <a:ea typeface="IBM Plex Sans" pitchFamily="34" charset="-122"/>
                <a:cs typeface="IBM Plex Sans" pitchFamily="34" charset="-120"/>
              </a:rPr>
              <a:t>Prepared for policy review</a:t>
            </a:r>
            <a:endParaRPr lang="en-US" sz="1200" dirty="0"/>
          </a:p>
        </p:txBody>
      </p:sp>
      <p:sp>
        <p:nvSpPr>
          <p:cNvPr id="14" name="Text 12"/>
          <p:cNvSpPr/>
          <p:nvPr/>
        </p:nvSpPr>
        <p:spPr>
          <a:xfrm>
            <a:off x="4595316" y="2876550"/>
            <a:ext cx="3091510" cy="9398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More claim checks from the AHCCCS tables: 486 same-day code pairs, 15,190 daily limits, 32 provider-type rules</a:t>
            </a:r>
            <a:endParaRPr lang="en-US" sz="1300" dirty="0"/>
          </a:p>
        </p:txBody>
      </p:sp>
      <p:sp>
        <p:nvSpPr>
          <p:cNvPr id="15" name="Text 13"/>
          <p:cNvSpPr/>
          <p:nvPr/>
        </p:nvSpPr>
        <p:spPr>
          <a:xfrm>
            <a:off x="4595316" y="3917950"/>
            <a:ext cx="3091510"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Federal edit checks: waiting on sign-off of which federal edits apply to which provider types</a:t>
            </a:r>
            <a:endParaRPr lang="en-US" sz="1300" dirty="0"/>
          </a:p>
        </p:txBody>
      </p:sp>
      <p:sp>
        <p:nvSpPr>
          <p:cNvPr id="16" name="Text 14"/>
          <p:cNvSpPr/>
          <p:nvPr/>
        </p:nvSpPr>
        <p:spPr>
          <a:xfrm>
            <a:off x="4595316" y="4730750"/>
            <a:ext cx="3091510" cy="25400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5F6873"/>
                </a:solidFill>
                <a:latin typeface="IBM Plex Sans" pitchFamily="34" charset="0"/>
                <a:ea typeface="IBM Plex Sans" pitchFamily="34" charset="-122"/>
                <a:cs typeface="IBM Plex Sans" pitchFamily="34" charset="-120"/>
              </a:rPr>
              <a:t>These are policy rules, not confirmed findings.</a:t>
            </a:r>
            <a:endParaRPr lang="en-US" sz="1300" dirty="0"/>
          </a:p>
        </p:txBody>
      </p:sp>
      <p:sp>
        <p:nvSpPr>
          <p:cNvPr id="17" name="Shape 15"/>
          <p:cNvSpPr/>
          <p:nvPr/>
        </p:nvSpPr>
        <p:spPr>
          <a:xfrm>
            <a:off x="7961908" y="2232025"/>
            <a:ext cx="3414216" cy="2933700"/>
          </a:xfrm>
          <a:prstGeom prst="roundRect">
            <a:avLst>
              <a:gd name="adj" fmla="val 3355"/>
            </a:avLst>
          </a:prstGeom>
          <a:solidFill>
            <a:srgbClr val="FCFBF8"/>
          </a:solidFill>
          <a:ln w="6350">
            <a:solidFill>
              <a:srgbClr val="DAD6CC"/>
            </a:solidFill>
            <a:prstDash val="solid"/>
          </a:ln>
        </p:spPr>
      </p:sp>
      <p:sp>
        <p:nvSpPr>
          <p:cNvPr id="18" name="Shape 16"/>
          <p:cNvSpPr/>
          <p:nvPr/>
        </p:nvSpPr>
        <p:spPr>
          <a:xfrm>
            <a:off x="8168283" y="2438400"/>
            <a:ext cx="586284" cy="311150"/>
          </a:xfrm>
          <a:prstGeom prst="roundRect">
            <a:avLst>
              <a:gd name="adj" fmla="val 50000"/>
            </a:avLst>
          </a:prstGeom>
          <a:solidFill>
            <a:srgbClr val="E3E7EC"/>
          </a:solidFill>
          <a:ln/>
        </p:spPr>
      </p:sp>
      <p:sp>
        <p:nvSpPr>
          <p:cNvPr id="19" name="Text 17"/>
          <p:cNvSpPr/>
          <p:nvPr/>
        </p:nvSpPr>
        <p:spPr>
          <a:xfrm>
            <a:off x="8295283" y="2489200"/>
            <a:ext cx="38308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7"/>
                </a:solidFill>
                <a:latin typeface="IBM Plex Sans" pitchFamily="34" charset="0"/>
                <a:ea typeface="IBM Plex Sans" pitchFamily="34" charset="-122"/>
                <a:cs typeface="IBM Plex Sans" pitchFamily="34" charset="-120"/>
              </a:rPr>
              <a:t>Planned next steps</a:t>
            </a:r>
            <a:endParaRPr lang="en-US" sz="1200" dirty="0"/>
          </a:p>
        </p:txBody>
      </p:sp>
      <p:sp>
        <p:nvSpPr>
          <p:cNvPr id="20" name="Text 18"/>
          <p:cNvSpPr/>
          <p:nvPr/>
        </p:nvSpPr>
        <p:spPr>
          <a:xfrm>
            <a:off x="8168283" y="2876550"/>
            <a:ext cx="3091510"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Where sources differ: one list (examples found today)</a:t>
            </a:r>
            <a:endParaRPr lang="en-US" sz="1300" dirty="0"/>
          </a:p>
        </p:txBody>
      </p:sp>
      <p:sp>
        <p:nvSpPr>
          <p:cNvPr id="21" name="Text 19"/>
          <p:cNvSpPr/>
          <p:nvPr/>
        </p:nvSpPr>
        <p:spPr>
          <a:xfrm>
            <a:off x="8168283" y="3460750"/>
            <a:ext cx="3091510"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Accuracy sample with investigators</a:t>
            </a:r>
            <a:endParaRPr lang="en-US" sz="1300" dirty="0"/>
          </a:p>
        </p:txBody>
      </p:sp>
      <p:sp>
        <p:nvSpPr>
          <p:cNvPr id="22" name="Text 20"/>
          <p:cNvSpPr/>
          <p:nvPr/>
        </p:nvSpPr>
        <p:spPr>
          <a:xfrm>
            <a:off x="8168283" y="3816350"/>
            <a:ext cx="3091510"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Recover the rules this run missed</a:t>
            </a:r>
            <a:endParaRPr lang="en-US" sz="1300" dirty="0"/>
          </a:p>
        </p:txBody>
      </p:sp>
      <p:sp>
        <p:nvSpPr>
          <p:cNvPr id="23" name="Text 21"/>
          <p:cNvSpPr/>
          <p:nvPr/>
        </p:nvSpPr>
        <p:spPr>
          <a:xfrm>
            <a:off x="8168283" y="4171950"/>
            <a:ext cx="3091510"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Policy Q&amp;A and anomaly explanations</a:t>
            </a:r>
            <a:endParaRPr lang="en-US" sz="1300" dirty="0"/>
          </a:p>
        </p:txBody>
      </p:sp>
      <p:sp>
        <p:nvSpPr>
          <p:cNvPr id="24" name="Text 22"/>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25" name="Text 23"/>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WHAT AHCCCS RECEIVES</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Five core data products support investigations, policy oversight, and maintenance.</a:t>
            </a:r>
            <a:endParaRPr lang="en-US" sz="3000" dirty="0"/>
          </a:p>
        </p:txBody>
      </p:sp>
      <p:sp>
        <p:nvSpPr>
          <p:cNvPr id="4" name="Shape 2"/>
          <p:cNvSpPr/>
          <p:nvPr/>
        </p:nvSpPr>
        <p:spPr>
          <a:xfrm>
            <a:off x="812800" y="2209800"/>
            <a:ext cx="10566400" cy="0"/>
          </a:xfrm>
          <a:prstGeom prst="line">
            <a:avLst/>
          </a:prstGeom>
          <a:noFill/>
          <a:ln w="12700">
            <a:solidFill>
              <a:srgbClr val="141413">
                <a:alpha val="22000"/>
              </a:srgbClr>
            </a:solidFill>
            <a:prstDash val="solid"/>
          </a:ln>
        </p:spPr>
      </p:sp>
      <p:sp>
        <p:nvSpPr>
          <p:cNvPr id="5" name="Shape 3"/>
          <p:cNvSpPr/>
          <p:nvPr/>
        </p:nvSpPr>
        <p:spPr>
          <a:xfrm>
            <a:off x="819150" y="2203450"/>
            <a:ext cx="0" cy="2160588"/>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2292350"/>
          <a:ext cx="10350500" cy="1995487"/>
        </p:xfrm>
        <a:graphic>
          <a:graphicData uri="http://schemas.openxmlformats.org/drawingml/2006/table">
            <a:tbl>
              <a:tblPr/>
              <a:tblGrid>
                <a:gridCol w="2277110"/>
                <a:gridCol w="4761230"/>
                <a:gridCol w="1656080"/>
                <a:gridCol w="1656080"/>
              </a:tblGrid>
              <a:tr h="332581">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Table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What it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Used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Knowledge base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Every rule: words, page, version, dates, approver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All teams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F5A3D"/>
                          </a:solidFill>
                          <a:latin typeface="IBM Plex Sans" pitchFamily="34" charset="0"/>
                          <a:ea typeface="IBM Plex Sans" pitchFamily="34" charset="-122"/>
                          <a:cs typeface="IBM Plex Sans" pitchFamily="34" charset="-120"/>
                        </a:rPr>
                        <a:t>Live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Findings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Flagged paid lines, with evidence and policy words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Investigators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F5A3D"/>
                          </a:solidFill>
                          <a:latin typeface="IBM Plex Sans" pitchFamily="34" charset="0"/>
                          <a:ea typeface="IBM Plex Sans" pitchFamily="34" charset="-122"/>
                          <a:cs typeface="IBM Plex Sans" pitchFamily="34" charset="-120"/>
                        </a:rPr>
                        <a:t>Live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Coverage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Paid dollars each source of rules covers, by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Program integrity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F5A3D"/>
                          </a:solidFill>
                          <a:latin typeface="IBM Plex Sans" pitchFamily="34" charset="0"/>
                          <a:ea typeface="IBM Plex Sans" pitchFamily="34" charset="-122"/>
                          <a:cs typeface="IBM Plex Sans" pitchFamily="34" charset="-120"/>
                        </a:rPr>
                        <a:t>Live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Source differences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Where two sources differ, both quoted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Policy owners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6B4A12"/>
                          </a:solidFill>
                          <a:latin typeface="IBM Plex Sans" pitchFamily="34" charset="0"/>
                          <a:ea typeface="IBM Plex Sans" pitchFamily="34" charset="-122"/>
                          <a:cs typeface="IBM Plex Sans" pitchFamily="34" charset="-120"/>
                        </a:rPr>
                        <a:t>Partly built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Policy updates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Revisions, and which rules went back for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Rule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F5A3D"/>
                          </a:solidFill>
                          <a:latin typeface="IBM Plex Sans" pitchFamily="34" charset="0"/>
                          <a:ea typeface="IBM Plex Sans" pitchFamily="34" charset="-122"/>
                          <a:cs typeface="IBM Plex Sans" pitchFamily="34" charset="-120"/>
                        </a:rPr>
                        <a:t>Live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7" name="Text 4"/>
          <p:cNvSpPr/>
          <p:nvPr/>
        </p:nvSpPr>
        <p:spPr>
          <a:xfrm>
            <a:off x="812800" y="4592638"/>
            <a:ext cx="10883392"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7"/>
                </a:solidFill>
                <a:latin typeface="IBM Plex Sans" pitchFamily="34" charset="0"/>
                <a:ea typeface="IBM Plex Sans" pitchFamily="34" charset="-122"/>
                <a:cs typeface="IBM Plex Sans" pitchFamily="34" charset="-120"/>
              </a:rPr>
              <a:t>Operational support includes run logs, approval records, versioned checks, federal edit files, and build history.</a:t>
            </a:r>
            <a:r>
              <a:rPr lang="en-US" sz="1200" dirty="0">
                <a:solidFill>
                  <a:srgbClr val="3E4A57"/>
                </a:solidFill>
                <a:latin typeface="IBM Plex Sans" pitchFamily="34" charset="0"/>
                <a:ea typeface="IBM Plex Sans" pitchFamily="34" charset="-122"/>
                <a:cs typeface="IBM Plex Sans" pitchFamily="34" charset="-120"/>
              </a:rPr>
              <a:t/>
            </a:r>
            <a:endParaRPr lang="en-US" sz="1200" dirty="0"/>
          </a:p>
        </p:txBody>
      </p:sp>
      <p:sp>
        <p:nvSpPr>
          <p:cNvPr id="8" name="Text 5"/>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9" name="Text 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B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WHAT WE DON’T KNOW YET</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What remains to be validated before broader use</a:t>
            </a:r>
            <a:endParaRPr lang="en-US" sz="3000" dirty="0"/>
          </a:p>
        </p:txBody>
      </p:sp>
      <p:sp>
        <p:nvSpPr>
          <p:cNvPr id="4" name="Shape 2"/>
          <p:cNvSpPr/>
          <p:nvPr/>
        </p:nvSpPr>
        <p:spPr>
          <a:xfrm>
            <a:off x="812800" y="2178050"/>
            <a:ext cx="5207000" cy="1181100"/>
          </a:xfrm>
          <a:prstGeom prst="roundRect">
            <a:avLst>
              <a:gd name="adj" fmla="val 8602"/>
            </a:avLst>
          </a:prstGeom>
          <a:solidFill>
            <a:srgbClr val="FBFBF9"/>
          </a:solidFill>
          <a:ln/>
        </p:spPr>
      </p:sp>
      <p:sp>
        <p:nvSpPr>
          <p:cNvPr id="5" name="Text 3"/>
          <p:cNvSpPr/>
          <p:nvPr/>
        </p:nvSpPr>
        <p:spPr>
          <a:xfrm>
            <a:off x="1016000" y="2381250"/>
            <a:ext cx="494461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43A"/>
                </a:solidFill>
                <a:latin typeface="IBM Plex Sans" pitchFamily="34" charset="0"/>
                <a:ea typeface="IBM Plex Sans" pitchFamily="34" charset="-122"/>
                <a:cs typeface="IBM Plex Sans" pitchFamily="34" charset="-120"/>
              </a:rPr>
              <a:t>How many flags are right</a:t>
            </a:r>
            <a:endParaRPr lang="en-US" sz="1600" dirty="0"/>
          </a:p>
        </p:txBody>
      </p:sp>
      <p:sp>
        <p:nvSpPr>
          <p:cNvPr id="6" name="Text 4"/>
          <p:cNvSpPr/>
          <p:nvPr/>
        </p:nvSpPr>
        <p:spPr>
          <a:xfrm>
            <a:off x="1016000" y="2698750"/>
            <a:ext cx="494461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Not yet measured. A blinded investigator review will establish the baseline.</a:t>
            </a:r>
            <a:endParaRPr lang="en-US" sz="1300" dirty="0"/>
          </a:p>
        </p:txBody>
      </p:sp>
      <p:sp>
        <p:nvSpPr>
          <p:cNvPr id="7" name="Shape 5"/>
          <p:cNvSpPr/>
          <p:nvPr/>
        </p:nvSpPr>
        <p:spPr>
          <a:xfrm>
            <a:off x="6172200" y="2178050"/>
            <a:ext cx="5207000" cy="1181100"/>
          </a:xfrm>
          <a:prstGeom prst="roundRect">
            <a:avLst>
              <a:gd name="adj" fmla="val 8602"/>
            </a:avLst>
          </a:prstGeom>
          <a:solidFill>
            <a:srgbClr val="FBFBF9"/>
          </a:solidFill>
          <a:ln/>
        </p:spPr>
      </p:sp>
      <p:sp>
        <p:nvSpPr>
          <p:cNvPr id="8" name="Text 6"/>
          <p:cNvSpPr/>
          <p:nvPr/>
        </p:nvSpPr>
        <p:spPr>
          <a:xfrm>
            <a:off x="6375400" y="2381250"/>
            <a:ext cx="494461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43A"/>
                </a:solidFill>
                <a:latin typeface="IBM Plex Sans" pitchFamily="34" charset="0"/>
                <a:ea typeface="IBM Plex Sans" pitchFamily="34" charset="-122"/>
                <a:cs typeface="IBM Plex Sans" pitchFamily="34" charset="-120"/>
              </a:rPr>
              <a:t>How many rules we missed</a:t>
            </a:r>
            <a:endParaRPr lang="en-US" sz="1600" dirty="0"/>
          </a:p>
        </p:txBody>
      </p:sp>
      <p:sp>
        <p:nvSpPr>
          <p:cNvPr id="9" name="Text 7"/>
          <p:cNvSpPr/>
          <p:nvPr/>
        </p:nvSpPr>
        <p:spPr>
          <a:xfrm>
            <a:off x="6375400" y="2698750"/>
            <a:ext cx="494461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The first pass missed at least 173 documented rules; 98 may be suitable for automated checks.</a:t>
            </a:r>
            <a:endParaRPr lang="en-US" sz="1300" dirty="0"/>
          </a:p>
        </p:txBody>
      </p:sp>
      <p:sp>
        <p:nvSpPr>
          <p:cNvPr id="10" name="Shape 8"/>
          <p:cNvSpPr/>
          <p:nvPr/>
        </p:nvSpPr>
        <p:spPr>
          <a:xfrm>
            <a:off x="812800" y="3511550"/>
            <a:ext cx="5207000" cy="1409700"/>
          </a:xfrm>
          <a:prstGeom prst="roundRect">
            <a:avLst>
              <a:gd name="adj" fmla="val 7207"/>
            </a:avLst>
          </a:prstGeom>
          <a:solidFill>
            <a:srgbClr val="FBFBF9"/>
          </a:solidFill>
          <a:ln/>
        </p:spPr>
      </p:sp>
      <p:sp>
        <p:nvSpPr>
          <p:cNvPr id="11" name="Text 9"/>
          <p:cNvSpPr/>
          <p:nvPr/>
        </p:nvSpPr>
        <p:spPr>
          <a:xfrm>
            <a:off x="1016000" y="3714750"/>
            <a:ext cx="494461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43A"/>
                </a:solidFill>
                <a:latin typeface="IBM Plex Sans" pitchFamily="34" charset="0"/>
                <a:ea typeface="IBM Plex Sans" pitchFamily="34" charset="-122"/>
                <a:cs typeface="IBM Plex Sans" pitchFamily="34" charset="-120"/>
              </a:rPr>
              <a:t>Policy not yet loaded</a:t>
            </a:r>
            <a:endParaRPr lang="en-US" sz="1600" dirty="0"/>
          </a:p>
        </p:txBody>
      </p:sp>
      <p:sp>
        <p:nvSpPr>
          <p:cNvPr id="12" name="Text 10"/>
          <p:cNvSpPr/>
          <p:nvPr/>
        </p:nvSpPr>
        <p:spPr>
          <a:xfrm>
            <a:off x="1016000" y="4032250"/>
            <a:ext cx="4944618"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Medical policy manual (AMPM), Behavioral Health Services Guide, PA guidelines, fee schedules, Arizona’s state-specific federal-edit settings.</a:t>
            </a:r>
            <a:endParaRPr lang="en-US" sz="1300" dirty="0"/>
          </a:p>
        </p:txBody>
      </p:sp>
      <p:sp>
        <p:nvSpPr>
          <p:cNvPr id="13" name="Shape 11"/>
          <p:cNvSpPr/>
          <p:nvPr/>
        </p:nvSpPr>
        <p:spPr>
          <a:xfrm>
            <a:off x="6172200" y="3511550"/>
            <a:ext cx="5207000" cy="1409700"/>
          </a:xfrm>
          <a:prstGeom prst="roundRect">
            <a:avLst>
              <a:gd name="adj" fmla="val 7207"/>
            </a:avLst>
          </a:prstGeom>
          <a:solidFill>
            <a:srgbClr val="FBFBF9"/>
          </a:solidFill>
          <a:ln/>
        </p:spPr>
      </p:sp>
      <p:sp>
        <p:nvSpPr>
          <p:cNvPr id="14" name="Text 12"/>
          <p:cNvSpPr/>
          <p:nvPr/>
        </p:nvSpPr>
        <p:spPr>
          <a:xfrm>
            <a:off x="6375400" y="3714750"/>
            <a:ext cx="4944618"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43A"/>
                </a:solidFill>
                <a:latin typeface="IBM Plex Sans" pitchFamily="34" charset="0"/>
                <a:ea typeface="IBM Plex Sans" pitchFamily="34" charset="-122"/>
                <a:cs typeface="IBM Plex Sans" pitchFamily="34" charset="-120"/>
              </a:rPr>
              <a:t>Data and history gaps</a:t>
            </a:r>
            <a:endParaRPr lang="en-US" sz="1600" dirty="0"/>
          </a:p>
        </p:txBody>
      </p:sp>
      <p:sp>
        <p:nvSpPr>
          <p:cNvPr id="15" name="Text 13"/>
          <p:cNvSpPr/>
          <p:nvPr/>
        </p:nvSpPr>
        <p:spPr>
          <a:xfrm>
            <a:off x="6375400" y="4032250"/>
            <a:ext cx="4944618"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The claims data we receive doesn’t yet include diagnosis, revenue code, end date or member program. Federal unit limits are loaded only from April 2026.</a:t>
            </a:r>
            <a:endParaRPr lang="en-US" sz="1300" dirty="0"/>
          </a:p>
        </p:txBody>
      </p:sp>
      <p:sp>
        <p:nvSpPr>
          <p:cNvPr id="16" name="Text 14"/>
          <p:cNvSpPr/>
          <p:nvPr/>
        </p:nvSpPr>
        <p:spPr>
          <a:xfrm>
            <a:off x="812800" y="512445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43A"/>
                </a:solidFill>
                <a:latin typeface="IBM Plex Sans" pitchFamily="34" charset="0"/>
                <a:ea typeface="IBM Plex Sans" pitchFamily="34" charset="-122"/>
                <a:cs typeface="IBM Plex Sans" pitchFamily="34" charset="-120"/>
              </a:rPr>
              <a:t>Technical test success does not establish policy correctness. Expert validation remains essential.</a:t>
            </a:r>
            <a:endParaRPr lang="en-US" sz="1400" dirty="0"/>
          </a:p>
        </p:txBody>
      </p:sp>
      <p:sp>
        <p:nvSpPr>
          <p:cNvPr id="17" name="Text 15"/>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18"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AFTER HANDOVER: POLICY UPDATE REVIEW</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Sustaining PIE requires clear ownership and a controlled policy-update process.</a:t>
            </a:r>
            <a:endParaRPr lang="en-US" sz="3000" dirty="0"/>
          </a:p>
        </p:txBody>
      </p:sp>
      <p:sp>
        <p:nvSpPr>
          <p:cNvPr id="4" name="Shape 2"/>
          <p:cNvSpPr/>
          <p:nvPr/>
        </p:nvSpPr>
        <p:spPr>
          <a:xfrm>
            <a:off x="815975" y="2181225"/>
            <a:ext cx="2254250" cy="1016000"/>
          </a:xfrm>
          <a:prstGeom prst="roundRect">
            <a:avLst>
              <a:gd name="adj" fmla="val 9688"/>
            </a:avLst>
          </a:prstGeom>
          <a:solidFill>
            <a:srgbClr val="FCFBF8"/>
          </a:solidFill>
          <a:ln w="6350">
            <a:solidFill>
              <a:srgbClr val="DAD6CC"/>
            </a:solidFill>
            <a:prstDash val="solid"/>
          </a:ln>
        </p:spPr>
      </p:sp>
      <p:sp>
        <p:nvSpPr>
          <p:cNvPr id="5" name="Text 3"/>
          <p:cNvSpPr/>
          <p:nvPr/>
        </p:nvSpPr>
        <p:spPr>
          <a:xfrm>
            <a:off x="971550" y="233680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D7C"/>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71550" y="2597150"/>
            <a:ext cx="2001393"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38"/>
                </a:solidFill>
                <a:latin typeface="IBM Plex Sans" pitchFamily="34" charset="0"/>
                <a:ea typeface="IBM Plex Sans" pitchFamily="34" charset="-122"/>
                <a:cs typeface="IBM Plex Sans" pitchFamily="34" charset="-120"/>
              </a:rPr>
              <a:t>AHCCCS or CMS publishes a change</a:t>
            </a:r>
            <a:endParaRPr lang="en-US" sz="1300" dirty="0"/>
          </a:p>
        </p:txBody>
      </p:sp>
      <p:pic>
        <p:nvPicPr>
          <p:cNvPr id="7" name="Image 0" descr="arrow-right">    </p:cNvPr>
          <p:cNvPicPr>
            <a:picLocks noChangeAspect="1"/>
          </p:cNvPicPr>
          <p:nvPr/>
        </p:nvPicPr>
        <p:blipFill>
          <a:blip r:embed="rId1"/>
          <a:srcRect l="0" r="0" t="0" b="0"/>
          <a:stretch/>
        </p:blipFill>
        <p:spPr>
          <a:xfrm>
            <a:off x="3175000" y="2613025"/>
            <a:ext cx="304800" cy="152400"/>
          </a:xfrm>
          <a:prstGeom prst="rect">
            <a:avLst/>
          </a:prstGeom>
        </p:spPr>
      </p:pic>
      <p:sp>
        <p:nvSpPr>
          <p:cNvPr id="8" name="Shape 5"/>
          <p:cNvSpPr/>
          <p:nvPr/>
        </p:nvSpPr>
        <p:spPr>
          <a:xfrm>
            <a:off x="3584575" y="2181225"/>
            <a:ext cx="2254250" cy="1016000"/>
          </a:xfrm>
          <a:prstGeom prst="roundRect">
            <a:avLst>
              <a:gd name="adj" fmla="val 9688"/>
            </a:avLst>
          </a:prstGeom>
          <a:solidFill>
            <a:srgbClr val="FCFBF8"/>
          </a:solidFill>
          <a:ln w="6350">
            <a:solidFill>
              <a:srgbClr val="DAD6CC"/>
            </a:solidFill>
            <a:prstDash val="solid"/>
          </a:ln>
        </p:spPr>
      </p:sp>
      <p:sp>
        <p:nvSpPr>
          <p:cNvPr id="9" name="Text 6"/>
          <p:cNvSpPr/>
          <p:nvPr/>
        </p:nvSpPr>
        <p:spPr>
          <a:xfrm>
            <a:off x="3740150" y="233680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D7C"/>
                </a:solidFill>
                <a:latin typeface="IBM Plex Sans" pitchFamily="34" charset="0"/>
                <a:ea typeface="IBM Plex Sans" pitchFamily="34" charset="-122"/>
                <a:cs typeface="IBM Plex Sans" pitchFamily="34" charset="-120"/>
              </a:rPr>
              <a:t>2</a:t>
            </a:r>
            <a:endParaRPr lang="en-US" sz="1200" dirty="0"/>
          </a:p>
        </p:txBody>
      </p:sp>
      <p:sp>
        <p:nvSpPr>
          <p:cNvPr id="10" name="Text 7"/>
          <p:cNvSpPr/>
          <p:nvPr/>
        </p:nvSpPr>
        <p:spPr>
          <a:xfrm>
            <a:off x="3740150" y="2597150"/>
            <a:ext cx="2001393"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38"/>
                </a:solidFill>
                <a:latin typeface="IBM Plex Sans" pitchFamily="34" charset="0"/>
                <a:ea typeface="IBM Plex Sans" pitchFamily="34" charset="-122"/>
                <a:cs typeface="IBM Plex Sans" pitchFamily="34" charset="-120"/>
              </a:rPr>
              <a:t>PIE sends the affected rules back to review</a:t>
            </a:r>
            <a:endParaRPr lang="en-US" sz="1300" dirty="0"/>
          </a:p>
        </p:txBody>
      </p:sp>
      <p:pic>
        <p:nvPicPr>
          <p:cNvPr id="11" name="Image 1" descr="arrow-right">    </p:cNvPr>
          <p:cNvPicPr>
            <a:picLocks noChangeAspect="1"/>
          </p:cNvPicPr>
          <p:nvPr/>
        </p:nvPicPr>
        <p:blipFill>
          <a:blip r:embed="rId2"/>
          <a:srcRect l="0" r="0" t="0" b="0"/>
          <a:stretch/>
        </p:blipFill>
        <p:spPr>
          <a:xfrm>
            <a:off x="5943600" y="2613025"/>
            <a:ext cx="304800" cy="152400"/>
          </a:xfrm>
          <a:prstGeom prst="rect">
            <a:avLst/>
          </a:prstGeom>
        </p:spPr>
      </p:pic>
      <p:sp>
        <p:nvSpPr>
          <p:cNvPr id="12" name="Shape 8"/>
          <p:cNvSpPr/>
          <p:nvPr/>
        </p:nvSpPr>
        <p:spPr>
          <a:xfrm>
            <a:off x="6353175" y="2181225"/>
            <a:ext cx="2254250" cy="1016000"/>
          </a:xfrm>
          <a:prstGeom prst="roundRect">
            <a:avLst>
              <a:gd name="adj" fmla="val 9688"/>
            </a:avLst>
          </a:prstGeom>
          <a:solidFill>
            <a:srgbClr val="FCFBF8"/>
          </a:solidFill>
          <a:ln w="6350">
            <a:solidFill>
              <a:srgbClr val="DAD6CC"/>
            </a:solidFill>
            <a:prstDash val="solid"/>
          </a:ln>
        </p:spPr>
      </p:sp>
      <p:sp>
        <p:nvSpPr>
          <p:cNvPr id="13" name="Text 9"/>
          <p:cNvSpPr/>
          <p:nvPr/>
        </p:nvSpPr>
        <p:spPr>
          <a:xfrm>
            <a:off x="6508750" y="233680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D7C"/>
                </a:solidFill>
                <a:latin typeface="IBM Plex Sans" pitchFamily="34" charset="0"/>
                <a:ea typeface="IBM Plex Sans" pitchFamily="34" charset="-122"/>
                <a:cs typeface="IBM Plex Sans" pitchFamily="34" charset="-120"/>
              </a:rPr>
              <a:t>3</a:t>
            </a:r>
            <a:endParaRPr lang="en-US" sz="1200" dirty="0"/>
          </a:p>
        </p:txBody>
      </p:sp>
      <p:sp>
        <p:nvSpPr>
          <p:cNvPr id="14" name="Text 10"/>
          <p:cNvSpPr/>
          <p:nvPr/>
        </p:nvSpPr>
        <p:spPr>
          <a:xfrm>
            <a:off x="6508750" y="2597150"/>
            <a:ext cx="2001393"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38"/>
                </a:solidFill>
                <a:latin typeface="IBM Plex Sans" pitchFamily="34" charset="0"/>
                <a:ea typeface="IBM Plex Sans" pitchFamily="34" charset="-122"/>
                <a:cs typeface="IBM Plex Sans" pitchFamily="34" charset="-120"/>
              </a:rPr>
              <a:t>A named reviewer signs again</a:t>
            </a:r>
            <a:endParaRPr lang="en-US" sz="1300" dirty="0"/>
          </a:p>
        </p:txBody>
      </p:sp>
      <p:pic>
        <p:nvPicPr>
          <p:cNvPr id="15" name="Image 2" descr="arrow-right">    </p:cNvPr>
          <p:cNvPicPr>
            <a:picLocks noChangeAspect="1"/>
          </p:cNvPicPr>
          <p:nvPr/>
        </p:nvPicPr>
        <p:blipFill>
          <a:blip r:embed="rId3"/>
          <a:srcRect l="0" r="0" t="0" b="0"/>
          <a:stretch/>
        </p:blipFill>
        <p:spPr>
          <a:xfrm>
            <a:off x="8712200" y="2613025"/>
            <a:ext cx="304800" cy="152400"/>
          </a:xfrm>
          <a:prstGeom prst="rect">
            <a:avLst/>
          </a:prstGeom>
        </p:spPr>
      </p:pic>
      <p:sp>
        <p:nvSpPr>
          <p:cNvPr id="16" name="Shape 11"/>
          <p:cNvSpPr/>
          <p:nvPr/>
        </p:nvSpPr>
        <p:spPr>
          <a:xfrm>
            <a:off x="9121775" y="2181225"/>
            <a:ext cx="2254250" cy="1016000"/>
          </a:xfrm>
          <a:prstGeom prst="roundRect">
            <a:avLst>
              <a:gd name="adj" fmla="val 9688"/>
            </a:avLst>
          </a:prstGeom>
          <a:solidFill>
            <a:srgbClr val="FCFBF8"/>
          </a:solidFill>
          <a:ln w="6350">
            <a:solidFill>
              <a:srgbClr val="DAD6CC"/>
            </a:solidFill>
            <a:prstDash val="solid"/>
          </a:ln>
        </p:spPr>
      </p:sp>
      <p:sp>
        <p:nvSpPr>
          <p:cNvPr id="17" name="Text 12"/>
          <p:cNvSpPr/>
          <p:nvPr/>
        </p:nvSpPr>
        <p:spPr>
          <a:xfrm>
            <a:off x="9277350" y="233680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D7C"/>
                </a:solidFill>
                <a:latin typeface="IBM Plex Sans" pitchFamily="34" charset="0"/>
                <a:ea typeface="IBM Plex Sans" pitchFamily="34" charset="-122"/>
                <a:cs typeface="IBM Plex Sans" pitchFamily="34" charset="-120"/>
              </a:rPr>
              <a:t>4</a:t>
            </a:r>
            <a:endParaRPr lang="en-US" sz="1200" dirty="0"/>
          </a:p>
        </p:txBody>
      </p:sp>
      <p:sp>
        <p:nvSpPr>
          <p:cNvPr id="18" name="Text 13"/>
          <p:cNvSpPr/>
          <p:nvPr/>
        </p:nvSpPr>
        <p:spPr>
          <a:xfrm>
            <a:off x="9277350" y="2597150"/>
            <a:ext cx="2001393"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38"/>
                </a:solidFill>
                <a:latin typeface="IBM Plex Sans" pitchFamily="34" charset="0"/>
                <a:ea typeface="IBM Plex Sans" pitchFamily="34" charset="-122"/>
                <a:cs typeface="IBM Plex Sans" pitchFamily="34" charset="-120"/>
              </a:rPr>
              <a:t>The checks run again</a:t>
            </a:r>
            <a:endParaRPr lang="en-US" sz="1300" dirty="0"/>
          </a:p>
        </p:txBody>
      </p:sp>
      <p:sp>
        <p:nvSpPr>
          <p:cNvPr id="19" name="Shape 14"/>
          <p:cNvSpPr/>
          <p:nvPr/>
        </p:nvSpPr>
        <p:spPr>
          <a:xfrm>
            <a:off x="812800" y="3409950"/>
            <a:ext cx="5156200" cy="0"/>
          </a:xfrm>
          <a:prstGeom prst="line">
            <a:avLst/>
          </a:prstGeom>
          <a:noFill/>
          <a:ln w="12700">
            <a:solidFill>
              <a:srgbClr val="141413">
                <a:alpha val="22000"/>
              </a:srgbClr>
            </a:solidFill>
            <a:prstDash val="solid"/>
          </a:ln>
        </p:spPr>
      </p:sp>
      <p:sp>
        <p:nvSpPr>
          <p:cNvPr id="20" name="Shape 15"/>
          <p:cNvSpPr/>
          <p:nvPr/>
        </p:nvSpPr>
        <p:spPr>
          <a:xfrm>
            <a:off x="819150" y="3403600"/>
            <a:ext cx="0" cy="1495425"/>
          </a:xfrm>
          <a:prstGeom prst="line">
            <a:avLst/>
          </a:prstGeom>
          <a:noFill/>
          <a:ln w="12700">
            <a:solidFill>
              <a:srgbClr val="141413">
                <a:alpha val="22000"/>
              </a:srgbClr>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27100" y="3492500"/>
          <a:ext cx="4940300" cy="1330325"/>
        </p:xfrm>
        <a:graphic>
          <a:graphicData uri="http://schemas.openxmlformats.org/drawingml/2006/table">
            <a:tbl>
              <a:tblPr/>
              <a:tblGrid>
                <a:gridCol w="2223135"/>
                <a:gridCol w="2717165"/>
              </a:tblGrid>
              <a:tr h="332581">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Source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When it refreshes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CMS federal edits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Every quarter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AHCCCS rule tables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Each new version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Billing manual</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Each chapter revision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22" name="Text 16"/>
          <p:cNvSpPr/>
          <p:nvPr/>
        </p:nvSpPr>
        <p:spPr>
          <a:xfrm>
            <a:off x="812800" y="5026025"/>
            <a:ext cx="3215779" cy="355600"/>
          </a:xfrm>
          <a:prstGeom prst="roundRect">
            <a:avLst>
              <a:gd name="adj" fmla="val 50000"/>
            </a:avLst>
          </a:prstGeom>
          <a:solidFill>
            <a:srgbClr val="F3E3C3"/>
          </a:solidFill>
          <a:ln/>
        </p:spPr>
        <p:txBody>
          <a:bodyPr wrap="none" lIns="0" tIns="0" rIns="0" bIns="0" rtlCol="0" anchor="ctr">
            <a:normAutofit/>
          </a:bodyPr>
          <a:lstStyle/>
          <a:p>
            <a:pPr algn="ctr" indent="0" marL="0">
              <a:lnSpc>
                <a:spcPts val="1820"/>
              </a:lnSpc>
              <a:buNone/>
            </a:pPr>
            <a:r>
              <a:rPr lang="en-US" sz="1300" b="1" dirty="0">
                <a:solidFill>
                  <a:srgbClr val="6B4A12"/>
                </a:solidFill>
                <a:latin typeface="IBM Plex Sans" pitchFamily="34" charset="0"/>
                <a:ea typeface="IBM Plex Sans" pitchFamily="34" charset="-122"/>
                <a:cs typeface="IBM Plex Sans" pitchFamily="34" charset="-120"/>
              </a:rPr>
              <a:t>Operational owner: [confirm before presentation]</a:t>
            </a:r>
            <a:endParaRPr lang="en-US" sz="1300" dirty="0"/>
          </a:p>
        </p:txBody>
      </p:sp>
      <p:sp>
        <p:nvSpPr>
          <p:cNvPr id="23" name="Shape 17"/>
          <p:cNvSpPr/>
          <p:nvPr/>
        </p:nvSpPr>
        <p:spPr>
          <a:xfrm>
            <a:off x="6223000" y="3409950"/>
            <a:ext cx="5156200" cy="0"/>
          </a:xfrm>
          <a:prstGeom prst="line">
            <a:avLst/>
          </a:prstGeom>
          <a:noFill/>
          <a:ln w="12700">
            <a:solidFill>
              <a:srgbClr val="141413">
                <a:alpha val="22000"/>
              </a:srgbClr>
            </a:solidFill>
            <a:prstDash val="solid"/>
          </a:ln>
        </p:spPr>
      </p:sp>
      <p:sp>
        <p:nvSpPr>
          <p:cNvPr id="24" name="Shape 18"/>
          <p:cNvSpPr/>
          <p:nvPr/>
        </p:nvSpPr>
        <p:spPr>
          <a:xfrm>
            <a:off x="6229350" y="3403600"/>
            <a:ext cx="0" cy="1701205"/>
          </a:xfrm>
          <a:prstGeom prst="line">
            <a:avLst/>
          </a:prstGeom>
          <a:noFill/>
          <a:ln w="12700">
            <a:solidFill>
              <a:srgbClr val="141413">
                <a:alpha val="22000"/>
              </a:srgbClr>
            </a:solidFill>
            <a:prstDash val="solid"/>
          </a:ln>
        </p:spPr>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337300" y="3492500"/>
          <a:ext cx="4940300" cy="1536105"/>
        </p:xfrm>
        <a:graphic>
          <a:graphicData uri="http://schemas.openxmlformats.org/drawingml/2006/table">
            <a:tbl>
              <a:tblPr/>
              <a:tblGrid>
                <a:gridCol w="2470150"/>
                <a:gridCol w="2470150"/>
              </a:tblGrid>
              <a:tr h="332581">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If this happens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PIE stops instead of guessing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A policy document changes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Its rules pause until re-signed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258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A check is edited after sign-off</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The run refuses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538361">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A rule needs data we don’t receive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1E2A38"/>
                          </a:solidFill>
                          <a:latin typeface="IBM Plex Sans" pitchFamily="34" charset="0"/>
                          <a:ea typeface="IBM Plex Sans" pitchFamily="34" charset="-122"/>
                          <a:cs typeface="IBM Plex Sans" pitchFamily="34" charset="-120"/>
                        </a:rPr>
                        <a:t>It stays on record, not checked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26" name="Text 19"/>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27" name="Text 20"/>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4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9A6F"/>
                </a:solidFill>
                <a:latin typeface="IBM Plex Sans" pitchFamily="34" charset="0"/>
                <a:ea typeface="IBM Plex Sans" pitchFamily="34" charset="-122"/>
                <a:cs typeface="IBM Plex Sans" pitchFamily="34" charset="-120"/>
              </a:rPr>
              <a:t>WHAT WE NEED FROM THIS ROOM</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F5F3EE"/>
                </a:solidFill>
                <a:latin typeface="Source Serif 4" pitchFamily="18" charset="0"/>
                <a:ea typeface="Source Serif 4" pitchFamily="18" charset="-122"/>
                <a:cs typeface="Source Serif 4" pitchFamily="18" charset="-120"/>
              </a:rPr>
              <a:t>Three decisions will move PIE toward a trusted, sustainable capability.</a:t>
            </a:r>
            <a:endParaRPr lang="en-US" sz="3000" dirty="0"/>
          </a:p>
        </p:txBody>
      </p:sp>
      <p:sp>
        <p:nvSpPr>
          <p:cNvPr id="4" name="Shape 2"/>
          <p:cNvSpPr/>
          <p:nvPr/>
        </p:nvSpPr>
        <p:spPr>
          <a:xfrm>
            <a:off x="812800" y="2228850"/>
            <a:ext cx="3386634" cy="2616200"/>
          </a:xfrm>
          <a:prstGeom prst="roundRect">
            <a:avLst>
              <a:gd name="adj" fmla="val 3883"/>
            </a:avLst>
          </a:prstGeom>
          <a:solidFill>
            <a:srgbClr val="1C3150"/>
          </a:solidFill>
          <a:ln/>
        </p:spPr>
      </p:sp>
      <p:sp>
        <p:nvSpPr>
          <p:cNvPr id="5" name="Text 3"/>
          <p:cNvSpPr/>
          <p:nvPr/>
        </p:nvSpPr>
        <p:spPr>
          <a:xfrm>
            <a:off x="1066800" y="2482850"/>
            <a:ext cx="29649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39A6F"/>
                </a:solidFill>
                <a:latin typeface="Source Serif 4" pitchFamily="18" charset="0"/>
                <a:ea typeface="Source Serif 4" pitchFamily="18" charset="-122"/>
                <a:cs typeface="Source Serif 4" pitchFamily="18" charset="-120"/>
              </a:rPr>
              <a:t>1</a:t>
            </a:r>
            <a:endParaRPr lang="en-US" sz="3200" dirty="0"/>
          </a:p>
        </p:txBody>
      </p:sp>
      <p:sp>
        <p:nvSpPr>
          <p:cNvPr id="6" name="Text 4"/>
          <p:cNvSpPr/>
          <p:nvPr/>
        </p:nvSpPr>
        <p:spPr>
          <a:xfrm>
            <a:off x="1066800" y="2990850"/>
            <a:ext cx="2964993"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Designate an AHCCCS policy reviewer</a:t>
            </a:r>
            <a:endParaRPr lang="en-US" sz="1700" dirty="0"/>
          </a:p>
        </p:txBody>
      </p:sp>
      <p:sp>
        <p:nvSpPr>
          <p:cNvPr id="7" name="Text 5"/>
          <p:cNvSpPr/>
          <p:nvPr/>
        </p:nvSpPr>
        <p:spPr>
          <a:xfrm>
            <a:off x="1066800" y="3346450"/>
            <a:ext cx="2964993"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5E0"/>
                </a:solidFill>
                <a:latin typeface="IBM Plex Sans" pitchFamily="34" charset="0"/>
                <a:ea typeface="IBM Plex Sans" pitchFamily="34" charset="-122"/>
                <a:cs typeface="IBM Plex Sans" pitchFamily="34" charset="-120"/>
              </a:rPr>
              <a:t>Countersigns the 269 rules, and signs off how the AHCCCS tables and federal edits are applied.</a:t>
            </a:r>
            <a:endParaRPr lang="en-US" sz="1300" dirty="0"/>
          </a:p>
        </p:txBody>
      </p:sp>
      <p:sp>
        <p:nvSpPr>
          <p:cNvPr id="8" name="Text 6"/>
          <p:cNvSpPr/>
          <p:nvPr/>
        </p:nvSpPr>
        <p:spPr>
          <a:xfrm>
            <a:off x="1066800" y="4133850"/>
            <a:ext cx="2964993" cy="4826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FC199"/>
                </a:solidFill>
                <a:latin typeface="IBM Plex Sans" pitchFamily="34" charset="0"/>
                <a:ea typeface="IBM Plex Sans" pitchFamily="34" charset="-122"/>
                <a:cs typeface="IBM Plex Sans" pitchFamily="34" charset="-120"/>
              </a:rPr>
              <a:t>Establishes authoritative approval before broader deployment</a:t>
            </a:r>
            <a:endParaRPr lang="en-US" sz="1300" dirty="0"/>
          </a:p>
        </p:txBody>
      </p:sp>
      <p:sp>
        <p:nvSpPr>
          <p:cNvPr id="9" name="Shape 7"/>
          <p:cNvSpPr/>
          <p:nvPr/>
        </p:nvSpPr>
        <p:spPr>
          <a:xfrm>
            <a:off x="4402634" y="2228850"/>
            <a:ext cx="3386634" cy="2616200"/>
          </a:xfrm>
          <a:prstGeom prst="roundRect">
            <a:avLst>
              <a:gd name="adj" fmla="val 3883"/>
            </a:avLst>
          </a:prstGeom>
          <a:solidFill>
            <a:srgbClr val="1C3150"/>
          </a:solidFill>
          <a:ln/>
        </p:spPr>
      </p:sp>
      <p:sp>
        <p:nvSpPr>
          <p:cNvPr id="10" name="Text 8"/>
          <p:cNvSpPr/>
          <p:nvPr/>
        </p:nvSpPr>
        <p:spPr>
          <a:xfrm>
            <a:off x="4656634" y="2482850"/>
            <a:ext cx="29649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39A6F"/>
                </a:solidFill>
                <a:latin typeface="Source Serif 4" pitchFamily="18" charset="0"/>
                <a:ea typeface="Source Serif 4" pitchFamily="18" charset="-122"/>
                <a:cs typeface="Source Serif 4" pitchFamily="18" charset="-120"/>
              </a:rPr>
              <a:t>2</a:t>
            </a:r>
            <a:endParaRPr lang="en-US" sz="3200" dirty="0"/>
          </a:p>
        </p:txBody>
      </p:sp>
      <p:sp>
        <p:nvSpPr>
          <p:cNvPr id="11" name="Text 9"/>
          <p:cNvSpPr/>
          <p:nvPr/>
        </p:nvSpPr>
        <p:spPr>
          <a:xfrm>
            <a:off x="4656634" y="2990850"/>
            <a:ext cx="2964993"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Partner with investigators on validation</a:t>
            </a:r>
            <a:endParaRPr lang="en-US" sz="1700" dirty="0"/>
          </a:p>
        </p:txBody>
      </p:sp>
      <p:sp>
        <p:nvSpPr>
          <p:cNvPr id="12" name="Text 10"/>
          <p:cNvSpPr/>
          <p:nvPr/>
        </p:nvSpPr>
        <p:spPr>
          <a:xfrm>
            <a:off x="4656634" y="3346450"/>
            <a:ext cx="2964993"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5E0"/>
                </a:solidFill>
                <a:latin typeface="IBM Plex Sans" pitchFamily="34" charset="0"/>
                <a:ea typeface="IBM Plex Sans" pitchFamily="34" charset="-122"/>
                <a:cs typeface="IBM Plex Sans" pitchFamily="34" charset="-120"/>
              </a:rPr>
              <a:t>Review a blind sample of [__] flagged lines: useful flags, false positives and time saved.</a:t>
            </a:r>
            <a:endParaRPr lang="en-US" sz="1300" dirty="0"/>
          </a:p>
        </p:txBody>
      </p:sp>
      <p:sp>
        <p:nvSpPr>
          <p:cNvPr id="13" name="Text 11"/>
          <p:cNvSpPr/>
          <p:nvPr/>
        </p:nvSpPr>
        <p:spPr>
          <a:xfrm>
            <a:off x="4656634" y="4133850"/>
            <a:ext cx="313263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FC199"/>
                </a:solidFill>
                <a:latin typeface="IBM Plex Sans" pitchFamily="34" charset="0"/>
                <a:ea typeface="IBM Plex Sans" pitchFamily="34" charset="-122"/>
                <a:cs typeface="IBM Plex Sans" pitchFamily="34" charset="-120"/>
              </a:rPr>
              <a:t>Measures usefulness, false positives, and review effort</a:t>
            </a:r>
            <a:endParaRPr lang="en-US" sz="1300" dirty="0"/>
          </a:p>
        </p:txBody>
      </p:sp>
      <p:sp>
        <p:nvSpPr>
          <p:cNvPr id="14" name="Shape 12"/>
          <p:cNvSpPr/>
          <p:nvPr/>
        </p:nvSpPr>
        <p:spPr>
          <a:xfrm>
            <a:off x="7992467" y="2228850"/>
            <a:ext cx="3386634" cy="2616200"/>
          </a:xfrm>
          <a:prstGeom prst="roundRect">
            <a:avLst>
              <a:gd name="adj" fmla="val 3883"/>
            </a:avLst>
          </a:prstGeom>
          <a:solidFill>
            <a:srgbClr val="1C3150"/>
          </a:solidFill>
          <a:ln/>
        </p:spPr>
      </p:sp>
      <p:sp>
        <p:nvSpPr>
          <p:cNvPr id="15" name="Text 13"/>
          <p:cNvSpPr/>
          <p:nvPr/>
        </p:nvSpPr>
        <p:spPr>
          <a:xfrm>
            <a:off x="8246467" y="2482850"/>
            <a:ext cx="29649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39A6F"/>
                </a:solidFill>
                <a:latin typeface="Source Serif 4" pitchFamily="18" charset="0"/>
                <a:ea typeface="Source Serif 4" pitchFamily="18" charset="-122"/>
                <a:cs typeface="Source Serif 4" pitchFamily="18" charset="-120"/>
              </a:rPr>
              <a:t>3</a:t>
            </a:r>
            <a:endParaRPr lang="en-US" sz="3200" dirty="0"/>
          </a:p>
        </p:txBody>
      </p:sp>
      <p:sp>
        <p:nvSpPr>
          <p:cNvPr id="16" name="Text 14"/>
          <p:cNvSpPr/>
          <p:nvPr/>
        </p:nvSpPr>
        <p:spPr>
          <a:xfrm>
            <a:off x="8246467" y="2990850"/>
            <a:ext cx="2964993"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Assign an operational owner</a:t>
            </a:r>
            <a:endParaRPr lang="en-US" sz="1700" dirty="0"/>
          </a:p>
        </p:txBody>
      </p:sp>
      <p:sp>
        <p:nvSpPr>
          <p:cNvPr id="17" name="Text 15"/>
          <p:cNvSpPr/>
          <p:nvPr/>
        </p:nvSpPr>
        <p:spPr>
          <a:xfrm>
            <a:off x="8246467" y="3346450"/>
            <a:ext cx="2964993"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5E0"/>
                </a:solidFill>
                <a:latin typeface="IBM Plex Sans" pitchFamily="34" charset="0"/>
                <a:ea typeface="IBM Plex Sans" pitchFamily="34" charset="-122"/>
                <a:cs typeface="IBM Plex Sans" pitchFamily="34" charset="-120"/>
              </a:rPr>
              <a:t>Keeps the refresh calendar and the review queue moving.</a:t>
            </a:r>
            <a:endParaRPr lang="en-US" sz="1300" dirty="0"/>
          </a:p>
        </p:txBody>
      </p:sp>
      <p:sp>
        <p:nvSpPr>
          <p:cNvPr id="18" name="Text 16"/>
          <p:cNvSpPr/>
          <p:nvPr/>
        </p:nvSpPr>
        <p:spPr>
          <a:xfrm>
            <a:off x="8246467" y="3905250"/>
            <a:ext cx="2964993"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FC199"/>
                </a:solidFill>
                <a:latin typeface="IBM Plex Sans" pitchFamily="34" charset="0"/>
                <a:ea typeface="IBM Plex Sans" pitchFamily="34" charset="-122"/>
                <a:cs typeface="IBM Plex Sans" pitchFamily="34" charset="-120"/>
              </a:rPr>
              <a:t>Keeps rules current and review decisions traceable</a:t>
            </a:r>
            <a:endParaRPr lang="en-US" sz="1300" dirty="0"/>
          </a:p>
        </p:txBody>
      </p:sp>
      <p:sp>
        <p:nvSpPr>
          <p:cNvPr id="19" name="Text 17"/>
          <p:cNvSpPr/>
          <p:nvPr/>
        </p:nvSpPr>
        <p:spPr>
          <a:xfrm>
            <a:off x="812800" y="5099050"/>
            <a:ext cx="10883392" cy="5207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9D5E0"/>
                </a:solidFill>
                <a:latin typeface="IBM Plex Sans" pitchFamily="34" charset="0"/>
                <a:ea typeface="IBM Plex Sans" pitchFamily="34" charset="-122"/>
                <a:cs typeface="IBM Plex Sans" pitchFamily="34" charset="-120"/>
              </a:rPr>
              <a:t>Immediate priorities: policy validation, investigator feedback, and clear ownership. Source differences go to AHCCCS policy owners.</a:t>
            </a:r>
            <a:r>
              <a:rPr lang="en-US" sz="1400" dirty="0">
                <a:solidFill>
                  <a:srgbClr val="C9D5E0"/>
                </a:solidFill>
                <a:latin typeface="IBM Plex Sans" pitchFamily="34" charset="0"/>
                <a:ea typeface="IBM Plex Sans" pitchFamily="34" charset="-122"/>
                <a:cs typeface="IBM Plex Sans" pitchFamily="34" charset="-120"/>
              </a:rPr>
              <a:t/>
            </a:r>
            <a:endParaRPr lang="en-US" sz="1400" dirty="0"/>
          </a:p>
        </p:txBody>
      </p:sp>
      <p:sp>
        <p:nvSpPr>
          <p:cNvPr id="20" name="Text 18"/>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BF"/>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21" name="Text 19"/>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4BF"/>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B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APPENDIX: PROOF</a:t>
            </a:r>
            <a:endParaRPr lang="en-US" sz="1200" dirty="0"/>
          </a:p>
        </p:txBody>
      </p:sp>
      <p:sp>
        <p:nvSpPr>
          <p:cNvPr id="3" name="Text 1"/>
          <p:cNvSpPr/>
          <p:nvPr>
            <p:ph type="title"/>
          </p:nvPr>
        </p:nvSpPr>
        <p:spPr>
          <a:xfrm>
            <a:off x="812800" y="1123950"/>
            <a:ext cx="10883392" cy="87630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Independent testing found no implementation mismatches in the tested cases.</a:t>
            </a:r>
            <a:endParaRPr lang="en-US" sz="3000" dirty="0"/>
          </a:p>
        </p:txBody>
      </p:sp>
      <p:sp>
        <p:nvSpPr>
          <p:cNvPr id="4" name="Shape 2"/>
          <p:cNvSpPr/>
          <p:nvPr/>
        </p:nvSpPr>
        <p:spPr>
          <a:xfrm>
            <a:off x="812800" y="2228850"/>
            <a:ext cx="5207000" cy="1301750"/>
          </a:xfrm>
          <a:prstGeom prst="roundRect">
            <a:avLst>
              <a:gd name="adj" fmla="val 7805"/>
            </a:avLst>
          </a:prstGeom>
          <a:solidFill>
            <a:srgbClr val="FBFBF9"/>
          </a:solidFill>
          <a:ln/>
        </p:spPr>
      </p:sp>
      <p:sp>
        <p:nvSpPr>
          <p:cNvPr id="5" name="Text 3"/>
          <p:cNvSpPr/>
          <p:nvPr/>
        </p:nvSpPr>
        <p:spPr>
          <a:xfrm>
            <a:off x="1016000" y="2432050"/>
            <a:ext cx="4944618"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A3D"/>
                </a:solidFill>
                <a:latin typeface="IBM Plex Sans" pitchFamily="34" charset="0"/>
                <a:ea typeface="IBM Plex Sans" pitchFamily="34" charset="-122"/>
                <a:cs typeface="IBM Plex Sans" pitchFamily="34" charset="-120"/>
              </a:rPr>
              <a:t>0 mismatches</a:t>
            </a:r>
            <a:endParaRPr lang="en-US" sz="2200" dirty="0"/>
          </a:p>
        </p:txBody>
      </p:sp>
      <p:sp>
        <p:nvSpPr>
          <p:cNvPr id="6" name="Text 4"/>
          <p:cNvSpPr/>
          <p:nvPr/>
        </p:nvSpPr>
        <p:spPr>
          <a:xfrm>
            <a:off x="1016000" y="2870200"/>
            <a:ext cx="494461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A separate program, written only from each check’s plain-English definition, recomputed the flags on test claims.</a:t>
            </a:r>
            <a:endParaRPr lang="en-US" sz="1300" dirty="0"/>
          </a:p>
        </p:txBody>
      </p:sp>
      <p:sp>
        <p:nvSpPr>
          <p:cNvPr id="7" name="Shape 5"/>
          <p:cNvSpPr/>
          <p:nvPr/>
        </p:nvSpPr>
        <p:spPr>
          <a:xfrm>
            <a:off x="6172200" y="2228850"/>
            <a:ext cx="5207000" cy="1301750"/>
          </a:xfrm>
          <a:prstGeom prst="roundRect">
            <a:avLst>
              <a:gd name="adj" fmla="val 7805"/>
            </a:avLst>
          </a:prstGeom>
          <a:solidFill>
            <a:srgbClr val="FBFBF9"/>
          </a:solidFill>
          <a:ln/>
        </p:spPr>
      </p:sp>
      <p:sp>
        <p:nvSpPr>
          <p:cNvPr id="8" name="Text 6"/>
          <p:cNvSpPr/>
          <p:nvPr/>
        </p:nvSpPr>
        <p:spPr>
          <a:xfrm>
            <a:off x="6375400" y="2432050"/>
            <a:ext cx="4944618"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A3D"/>
                </a:solidFill>
                <a:latin typeface="IBM Plex Sans" pitchFamily="34" charset="0"/>
                <a:ea typeface="IBM Plex Sans" pitchFamily="34" charset="-122"/>
                <a:cs typeface="IBM Plex Sans" pitchFamily="34" charset="-120"/>
              </a:rPr>
              <a:t>716 tests</a:t>
            </a:r>
            <a:endParaRPr lang="en-US" sz="2200" dirty="0"/>
          </a:p>
        </p:txBody>
      </p:sp>
      <p:sp>
        <p:nvSpPr>
          <p:cNvPr id="9" name="Text 7"/>
          <p:cNvSpPr/>
          <p:nvPr/>
        </p:nvSpPr>
        <p:spPr>
          <a:xfrm>
            <a:off x="6375400" y="2870200"/>
            <a:ext cx="494461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Automated tests run on every change. Planted mistakes are used to test the tests.</a:t>
            </a:r>
            <a:endParaRPr lang="en-US" sz="1300" dirty="0"/>
          </a:p>
        </p:txBody>
      </p:sp>
      <p:sp>
        <p:nvSpPr>
          <p:cNvPr id="10" name="Shape 8"/>
          <p:cNvSpPr/>
          <p:nvPr/>
        </p:nvSpPr>
        <p:spPr>
          <a:xfrm>
            <a:off x="812800" y="3683000"/>
            <a:ext cx="5207000" cy="1301750"/>
          </a:xfrm>
          <a:prstGeom prst="roundRect">
            <a:avLst>
              <a:gd name="adj" fmla="val 7805"/>
            </a:avLst>
          </a:prstGeom>
          <a:solidFill>
            <a:srgbClr val="FBFBF9"/>
          </a:solidFill>
          <a:ln/>
        </p:spPr>
      </p:sp>
      <p:sp>
        <p:nvSpPr>
          <p:cNvPr id="11" name="Text 9"/>
          <p:cNvSpPr/>
          <p:nvPr/>
        </p:nvSpPr>
        <p:spPr>
          <a:xfrm>
            <a:off x="1016000" y="3886200"/>
            <a:ext cx="4944618"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A3D"/>
                </a:solidFill>
                <a:latin typeface="IBM Plex Sans" pitchFamily="34" charset="0"/>
                <a:ea typeface="IBM Plex Sans" pitchFamily="34" charset="-122"/>
                <a:cs typeface="IBM Plex Sans" pitchFamily="34" charset="-120"/>
              </a:rPr>
              <a:t>Fingerprinted</a:t>
            </a:r>
            <a:endParaRPr lang="en-US" sz="2200" dirty="0"/>
          </a:p>
        </p:txBody>
      </p:sp>
      <p:sp>
        <p:nvSpPr>
          <p:cNvPr id="12" name="Text 10"/>
          <p:cNvSpPr/>
          <p:nvPr/>
        </p:nvSpPr>
        <p:spPr>
          <a:xfrm>
            <a:off x="1016000" y="4324350"/>
            <a:ext cx="494461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Each check is stored with a fingerprint. A check edited after sign-off is refused.</a:t>
            </a:r>
            <a:endParaRPr lang="en-US" sz="1300" dirty="0"/>
          </a:p>
        </p:txBody>
      </p:sp>
      <p:sp>
        <p:nvSpPr>
          <p:cNvPr id="13" name="Shape 11"/>
          <p:cNvSpPr/>
          <p:nvPr/>
        </p:nvSpPr>
        <p:spPr>
          <a:xfrm>
            <a:off x="6172200" y="3683000"/>
            <a:ext cx="5207000" cy="1301750"/>
          </a:xfrm>
          <a:prstGeom prst="roundRect">
            <a:avLst>
              <a:gd name="adj" fmla="val 7805"/>
            </a:avLst>
          </a:prstGeom>
          <a:solidFill>
            <a:srgbClr val="FBFBF9"/>
          </a:solidFill>
          <a:ln/>
        </p:spPr>
      </p:sp>
      <p:sp>
        <p:nvSpPr>
          <p:cNvPr id="14" name="Text 12"/>
          <p:cNvSpPr/>
          <p:nvPr/>
        </p:nvSpPr>
        <p:spPr>
          <a:xfrm>
            <a:off x="6375400" y="3886200"/>
            <a:ext cx="4944618"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5A3D"/>
                </a:solidFill>
                <a:latin typeface="IBM Plex Sans" pitchFamily="34" charset="0"/>
                <a:ea typeface="IBM Plex Sans" pitchFamily="34" charset="-122"/>
                <a:cs typeface="IBM Plex Sans" pitchFamily="34" charset="-120"/>
              </a:rPr>
              <a:t>Validation pack</a:t>
            </a:r>
            <a:endParaRPr lang="en-US" sz="2200" dirty="0"/>
          </a:p>
        </p:txBody>
      </p:sp>
      <p:sp>
        <p:nvSpPr>
          <p:cNvPr id="15" name="Text 13"/>
          <p:cNvSpPr/>
          <p:nvPr/>
        </p:nvSpPr>
        <p:spPr>
          <a:xfrm>
            <a:off x="6375400" y="4324350"/>
            <a:ext cx="4944618"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Every check in plain English, with test claims it must and must not flag, for a person to sign.</a:t>
            </a:r>
            <a:endParaRPr lang="en-US" sz="1300" dirty="0"/>
          </a:p>
        </p:txBody>
      </p:sp>
      <p:sp>
        <p:nvSpPr>
          <p:cNvPr id="16" name="Text 14"/>
          <p:cNvSpPr/>
          <p:nvPr/>
        </p:nvSpPr>
        <p:spPr>
          <a:xfrm>
            <a:off x="812800" y="523875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7"/>
                </a:solidFill>
                <a:latin typeface="IBM Plex Sans" pitchFamily="34" charset="0"/>
                <a:ea typeface="IBM Plex Sans" pitchFamily="34" charset="-122"/>
                <a:cs typeface="IBM Plex Sans" pitchFamily="34" charset="-120"/>
              </a:rPr>
              <a:t>These tests assess whether checks implement documented rules, not whether the underlying policy interpretation is correct.</a:t>
            </a:r>
            <a:endParaRPr lang="en-US" sz="1400" dirty="0"/>
          </a:p>
        </p:txBody>
      </p:sp>
      <p:sp>
        <p:nvSpPr>
          <p:cNvPr id="17" name="Text 15"/>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18" name="Text 16"/>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7C"/>
                </a:solidFill>
                <a:latin typeface="IBM Plex Sans" pitchFamily="34" charset="0"/>
                <a:ea typeface="IBM Plex Sans" pitchFamily="34" charset="-122"/>
                <a:cs typeface="IBM Plex Sans" pitchFamily="34" charset="-120"/>
              </a:rPr>
              <a:t>APPENDIX: SOURCES</a:t>
            </a:r>
            <a:endParaRPr lang="en-US" sz="1200" dirty="0"/>
          </a:p>
        </p:txBody>
      </p:sp>
      <p:sp>
        <p:nvSpPr>
          <p:cNvPr id="3" name="Text 1"/>
          <p:cNvSpPr/>
          <p:nvPr>
            <p:ph type="title"/>
          </p:nvPr>
        </p:nvSpPr>
        <p:spPr>
          <a:xfrm>
            <a:off x="812800" y="1123950"/>
            <a:ext cx="10883392" cy="450850"/>
          </a:xfrm>
          <a:prstGeom prst="rect">
            <a:avLst/>
          </a:prstGeom>
          <a:noFill/>
          <a:ln/>
        </p:spPr>
        <p:txBody>
          <a:bodyPr wrap="square" lIns="0" tIns="0" rIns="0" bIns="0" rtlCol="0" anchor="t">
            <a:normAutofit/>
          </a:bodyPr>
          <a:lstStyle/>
          <a:p>
            <a:pPr algn="l" indent="0" marL="0">
              <a:lnSpc>
                <a:spcPts val="3360"/>
              </a:lnSpc>
              <a:buNone/>
            </a:pPr>
            <a:r>
              <a:rPr lang="en-US" sz="3000" b="0" i="0" dirty="0">
                <a:solidFill>
                  <a:srgbClr val="13243A"/>
                </a:solidFill>
                <a:latin typeface="Source Serif 4" pitchFamily="18" charset="0"/>
                <a:ea typeface="Source Serif 4" pitchFamily="18" charset="-122"/>
                <a:cs typeface="Source Serif 4" pitchFamily="18" charset="-120"/>
              </a:rPr>
              <a:t>Current source inventory and version coverage.</a:t>
            </a:r>
            <a:endParaRPr lang="en-US" sz="3000" dirty="0"/>
          </a:p>
        </p:txBody>
      </p:sp>
      <p:sp>
        <p:nvSpPr>
          <p:cNvPr id="4" name="Shape 2"/>
          <p:cNvSpPr/>
          <p:nvPr/>
        </p:nvSpPr>
        <p:spPr>
          <a:xfrm>
            <a:off x="812800" y="1809750"/>
            <a:ext cx="10566400" cy="0"/>
          </a:xfrm>
          <a:prstGeom prst="line">
            <a:avLst/>
          </a:prstGeom>
          <a:noFill/>
          <a:ln w="12700">
            <a:solidFill>
              <a:srgbClr val="141413">
                <a:alpha val="22000"/>
              </a:srgbClr>
            </a:solidFill>
            <a:prstDash val="solid"/>
          </a:ln>
        </p:spPr>
      </p:sp>
      <p:sp>
        <p:nvSpPr>
          <p:cNvPr id="5" name="Shape 3"/>
          <p:cNvSpPr/>
          <p:nvPr/>
        </p:nvSpPr>
        <p:spPr>
          <a:xfrm>
            <a:off x="819150" y="1803400"/>
            <a:ext cx="0" cy="2705398"/>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905000"/>
          <a:ext cx="10325100" cy="2514898"/>
        </p:xfrm>
        <a:graphic>
          <a:graphicData uri="http://schemas.openxmlformats.org/drawingml/2006/table">
            <a:tbl>
              <a:tblPr/>
              <a:tblGrid>
                <a:gridCol w="3510534"/>
                <a:gridCol w="4130040"/>
                <a:gridCol w="2684526"/>
              </a:tblGrid>
              <a:tr h="359271">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What it 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Version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0" cap="flat" cmpd="sng" algn="ctr">
                      <a:noFill/>
                    </a:lnT>
                    <a:lnB w="12700" cap="flat" cmpd="sng" algn="ctr">
                      <a:solidFill>
                        <a:srgbClr val="132031"/>
                      </a:solidFill>
                      <a:prstDash val="solid"/>
                      <a:round/>
                      <a:headEnd type="none" w="med" len="med"/>
                      <a:tailEnd type="none" w="med" len="med"/>
                    </a:lnB>
                    <a:solidFill>
                      <a:srgbClr val="13243A"/>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CMS Medicaid NCCI edits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Code pairs; units per claim 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Quarterly; units from Q2 2026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AHCCCS FFS billing manual</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36 files: chapters and exhibits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1C3C3"/>
                      </a:solidFill>
                      <a:prstDash val="solid"/>
                      <a:round/>
                      <a:headEnd type="none" w="med" len="med"/>
                      <a:tailEnd type="none" w="med" len="med"/>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Each file’s version recorded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1C3C3"/>
                      </a:solidFill>
                      <a:prstDash val="solid"/>
                      <a:round/>
                      <a:headEnd type="none" w="med" len="med"/>
                      <a:tailEnd type="none" w="med" len="med"/>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Same Day Disallow table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8C8C6"/>
                      </a:solidFill>
                      <a:prstDash val="solid"/>
                      <a:round/>
                      <a:headEnd type="none" w="med" len="med"/>
                      <a:tailEnd type="none" w="med" len="med"/>
                    </a:lnR>
                    <a:lnT w="12700" cap="flat" cmpd="sng" algn="ctr">
                      <a:solidFill>
                        <a:srgbClr val="C1C3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Code pairs barred on one 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1C3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10/1/2026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1C3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Daily limits table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Units allowed per code per 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1C3C3"/>
                      </a:solidFill>
                      <a:prstDash val="solid"/>
                      <a:round/>
                      <a:headEnd type="none" w="med" len="med"/>
                      <a:tailEnd type="none" w="med" len="med"/>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9/14/2026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1C3C3"/>
                      </a:solidFill>
                      <a:prstDash val="solid"/>
                      <a:round/>
                      <a:headEnd type="none" w="med" len="med"/>
                      <a:tailEnd type="none" w="med" len="med"/>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B2 behavioral health matrix</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8C8C6"/>
                      </a:solidFill>
                      <a:prstDash val="solid"/>
                      <a:round/>
                      <a:headEnd type="none" w="med" len="med"/>
                      <a:tailEnd type="none" w="med" len="med"/>
                    </a:lnR>
                    <a:lnT w="12700" cap="flat" cmpd="sng" algn="ctr">
                      <a:solidFill>
                        <a:srgbClr val="C1C3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Who may bill each code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1C3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10/1/2026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1C3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9"/>
                    </a:solidFill>
                  </a:tcPr>
                </a:tc>
              </a:tr>
              <a:tr h="359271">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Paid claims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[FETCH: claim line count]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1C3C3"/>
                      </a:solidFill>
                      <a:prstDash val="solid"/>
                      <a:round/>
                      <a:headEnd type="none" w="med" len="med"/>
                      <a:tailEnd type="none" w="med" len="med"/>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c>
                  <a:txBody>
                    <a:bodyPr/>
                    <a:lstStyle/>
                    <a:p>
                      <a:pPr indent="0" marL="0">
                        <a:lnSpc>
                          <a:spcPts val="1820"/>
                        </a:lnSpc>
                        <a:buNone/>
                      </a:pPr>
                      <a:r>
                        <a:rPr lang="en-US" sz="1300" dirty="0">
                          <a:solidFill>
                            <a:srgbClr val="1E2A38"/>
                          </a:solidFill>
                          <a:latin typeface="IBM Plex Sans" pitchFamily="34" charset="0"/>
                          <a:ea typeface="IBM Plex Sans" pitchFamily="34" charset="-122"/>
                          <a:cs typeface="IBM Plex Sans" pitchFamily="34" charset="-120"/>
                        </a:rPr>
                        <a:t>Oct 2024 to Sep 2026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1C3C3"/>
                      </a:solidFill>
                      <a:prstDash val="solid"/>
                      <a:round/>
                      <a:headEnd type="none" w="med" len="med"/>
                      <a:tailEnd type="none" w="med" len="med"/>
                    </a:lnL>
                    <a:lnR w="12700" cap="flat" cmpd="sng" algn="ctr">
                      <a:solidFill>
                        <a:srgbClr val="C1C3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1C3C3"/>
                      </a:solidFill>
                      <a:prstDash val="solid"/>
                      <a:round/>
                      <a:headEnd type="none" w="med" len="med"/>
                      <a:tailEnd type="none" w="med" len="med"/>
                    </a:lnB>
                    <a:solidFill>
                      <a:srgbClr val="F2F4F5"/>
                    </a:solidFill>
                  </a:tcPr>
                </a:tc>
              </a:tr>
            </a:tbl>
          </a:graphicData>
        </a:graphic>
      </p:graphicFrame>
      <p:sp>
        <p:nvSpPr>
          <p:cNvPr id="7" name="Text 4"/>
          <p:cNvSpPr/>
          <p:nvPr/>
        </p:nvSpPr>
        <p:spPr>
          <a:xfrm>
            <a:off x="812800" y="6242050"/>
            <a:ext cx="6540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Policy Intelligence Engine · NTT DATA</a:t>
            </a:r>
            <a:endParaRPr lang="en-US" sz="1200" dirty="0"/>
          </a:p>
        </p:txBody>
      </p:sp>
      <p:sp>
        <p:nvSpPr>
          <p:cNvPr id="8" name="Text 5"/>
          <p:cNvSpPr/>
          <p:nvPr/>
        </p:nvSpPr>
        <p:spPr>
          <a:xfrm>
            <a:off x="10058400" y="6242050"/>
            <a:ext cx="13208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IBM Plex Sans" pitchFamily="34" charset="0"/>
                <a:ea typeface="IBM Plex Sans" pitchFamily="34" charset="-122"/>
                <a:cs typeface="IBM Plex Sans" pitchFamily="34" charset="-120"/>
              </a:rPr>
              <a:t>A2</a:t>
            </a:r>
            <a:endParaRPr lang="en-US" sz="1200" dirty="0"/>
          </a:p>
        </p:txBody>
      </p:sp>
    </p:spTree>
  </p:cSld>
  <p:clrMapOvr>
    <a:masterClrMapping/>
  </p:clrMapOvr>
</p:sld>
</file>

<file path=ppt/theme/theme1.xml><?xml version="1.0" encoding="utf-8"?>
<a:theme xmlns:a="http://schemas.openxmlformats.org/drawingml/2006/main" name="Policy Intelligence Engine">
  <a:themeElements>
    <a:clrScheme name="Policy Intelligence Engine">
      <a:dk1>
        <a:srgbClr val="13243A"/>
      </a:dk1>
      <a:lt1>
        <a:srgbClr val="F5F3EE"/>
      </a:lt1>
      <a:dk2>
        <a:srgbClr val="4C5867"/>
      </a:dk2>
      <a:lt2>
        <a:srgbClr val="DEDEDC"/>
      </a:lt2>
      <a:accent1>
        <a:srgbClr val="2A5D7C"/>
      </a:accent1>
      <a:accent2>
        <a:srgbClr val="1F5A3D"/>
      </a:accent2>
      <a:accent3>
        <a:srgbClr val="E39A6F"/>
      </a:accent3>
      <a:accent4>
        <a:srgbClr val="F3E3C3"/>
      </a:accent4>
      <a:accent5>
        <a:srgbClr val="6B4A12"/>
      </a:accent5>
      <a:accent6>
        <a:srgbClr val="6FC199"/>
      </a:accent6>
      <a:hlink>
        <a:srgbClr val="0563C1"/>
      </a:hlink>
      <a:folHlink>
        <a:srgbClr val="954F72"/>
      </a:folHlink>
    </a:clrScheme>
    <a:fontScheme name="Policy Intelligence Engine">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Intelligence Engine</dc:title>
  <dc:subject/>
  <dc:creator/>
  <cp:lastModifiedBy/>
  <cp:revision>1</cp:revision>
  <dcterms:created xsi:type="dcterms:W3CDTF">2026-10-21T07:30:12Z</dcterms:created>
  <dcterms:modified xsi:type="dcterms:W3CDTF">2026-10-21T07:30:12Z</dcterms:modified>
</cp:coreProperties>
</file>