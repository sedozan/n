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pendix" id="{7c445f0d-bf59-ad53-a133-71fa68ff6314}">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only if asked. One line: the model is a reader, not a judge. It proposes rules; code checks them against the PDF; a person decides. Nothing runs on claims until a person approves it, and the checks that run on claims contain no AI.
Flow: (1) PyMuPDF reads each chapter PDF (pypdf as fallback), keeps headings, page numbers and tables, and cuts the chapter into sections; each PDF version is fingerprinted. A cheap pre-filter keeps any section with a code or rule words; the latest Chapter 19 run lost no rules at this step. (2) Two readers per section: gpt-oss-120b, and a pattern layer (regex) for known sentence shapes such as "maximum of four units per day" or "X shall not be billed with A, B, C". When both find a rule it is marked corroborated; when they differ, both drafts are kept and flagged. (3) Grounding: the quote must exist in the PDF, every code must be in the source, the number must be in the quoted sentence. We store the source sentence, never the model's paraphrase. (4) Post-checks re-read the sentence for conditions, exceptions and combined caps; they can only narrow or label a rule. (5) A person approves, fixes or rejects.
Model facts: openai/gpt-oss-120b, open-weight (Apache 2.0), about 117B parameters with 5.1B active per token, fits one 80 GB GPU. Loaded locally on Databricks Serverless GPU with transformers and openai-harmony, the same loader as our anomaly summaries. Reasoning effort medium, chosen by an A/B test on Chapter 19 (0.735 vs 0.712 recall on signed rules). Greedy decoding. Output budget 4,500 tokens with a retry and section splitting when an answer runs long. Only the final answer is kept; the reasoning text is discarded.
Likely questions. Is this RAG? No: RAG retrieves the top few passages to answer a question; extraction must read every section. Policy Q&amp;A comes later, on the signed rules. Why not fine-tune? We had no labelled data; review has now produced it. Constrained decoding? Not used; output is validated against the rule format afterwards, and anything that does not fit becomes a lead. Hallucinations? Grounding plus human approval; examples in the prompt use placeholder codes so a copied example is caught. Confidence score? Not treated as a probability; review is ordered by the checks. Why not a frontier API? Data governance; the backend is swappable and can be A/B tested with the same scoring.
Own the gaps: recall is about 62% against our hand-made rule list (0.735 on Chapter 19 signed rules); Chapter 19 takes about 5 hours at medium; the regex layer is maintained by hand; place of service and claim form are not yet in the rule format. The 852-rule list is a proxy read, never a pass/fail gate; the signed decisions are the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13232"/>
            <a:ext cx="11091672" cy="548640"/>
          </a:xfrm>
          <a:prstGeom prst="rect">
            <a:avLst/>
          </a:prstGeom>
          <a:noFill/>
          <a:ln/>
        </p:spPr>
        <p:txBody>
          <a:bodyPr wrap="square" rtlCol="0"/>
          <a:lstStyle>
            <a:lvl1pPr algn="l" indent="0" marL="0">
              <a:buNone/>
              <a:defRPr lang="en-US" sz="2800" dirty="0">
                <a:solidFill>
                  <a:schemeClr val="tx1"/>
                </a:solidFill>
              </a:defRPr>
            </a:lvl1pPr>
          </a:lstStyle>
          <a:p>
            <a:pPr algn="l"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365760"/>
            <a:ext cx="11091672"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APPENDIX: HOW AI READS THE BILLING MANUAL</a:t>
            </a:r>
            <a:endParaRPr lang="en-US" sz="1200" dirty="0"/>
          </a:p>
        </p:txBody>
      </p:sp>
      <p:sp>
        <p:nvSpPr>
          <p:cNvPr id="3" name="Text 0"/>
          <p:cNvSpPr/>
          <p:nvPr>
            <p:ph idx="100" type="title" hasCustomPrompt="1"/>
          </p:nvPr>
        </p:nvSpPr>
        <p:spPr>
          <a:xfrm>
            <a:off x="548640" y="713232"/>
            <a:ext cx="11091672" cy="548640"/>
          </a:xfrm>
          <a:prstGeom prst="rect">
            <a:avLst/>
          </a:prstGeom>
          <a:noFill/>
          <a:ln/>
        </p:spPr>
        <p:txBody>
          <a:bodyPr wrap="square" lIns="0" tIns="0" rIns="0" bIns="0" rtlCol="0" anchor="t"/>
          <a:lstStyle/>
          <a:p>
            <a:pPr algn="l" indent="0" marL="0">
              <a:buNone/>
            </a:pPr>
            <a:r>
              <a:rPr lang="en-US" sz="2800" dirty="0">
                <a:solidFill>
                  <a:schemeClr val="tx1"/>
                </a:solidFill>
              </a:rPr>
              <a:t>AI proposes the rules; code checks them; a person approves</a:t>
            </a:r>
            <a:endParaRPr lang="en-US" sz="2800" dirty="0"/>
          </a:p>
        </p:txBody>
      </p:sp>
      <p:sp>
        <p:nvSpPr>
          <p:cNvPr id="4" name="step1-card"/>
          <p:cNvSpPr/>
          <p:nvPr/>
        </p:nvSpPr>
        <p:spPr>
          <a:xfrm>
            <a:off x="548640" y="1554480"/>
            <a:ext cx="1969618" cy="2194560"/>
          </a:xfrm>
          <a:prstGeom prst="roundRect">
            <a:avLst>
              <a:gd name="adj" fmla="val 3714"/>
            </a:avLst>
          </a:prstGeom>
          <a:solidFill>
            <a:schemeClr val="bg2"/>
          </a:solidFill>
          <a:ln w="12700">
            <a:solidFill>
              <a:schemeClr val="bg2"/>
            </a:solidFill>
            <a:prstDash val="solid"/>
          </a:ln>
        </p:spPr>
      </p:sp>
      <p:sp>
        <p:nvSpPr>
          <p:cNvPr id="5" name="step1-tag"/>
          <p:cNvSpPr/>
          <p:nvPr/>
        </p:nvSpPr>
        <p:spPr>
          <a:xfrm>
            <a:off x="685800" y="1709928"/>
            <a:ext cx="777240" cy="274320"/>
          </a:xfrm>
          <a:prstGeom prst="roundRect">
            <a:avLst>
              <a:gd name="adj" fmla="val 50000"/>
            </a:avLst>
          </a:prstGeom>
          <a:solidFill>
            <a:schemeClr val="accent1"/>
          </a:solidFill>
          <a:ln w="12700">
            <a:solidFill>
              <a:schemeClr val="accent1"/>
            </a:solidFill>
            <a:prstDash val="solid"/>
          </a:ln>
        </p:spPr>
      </p:sp>
      <p:sp>
        <p:nvSpPr>
          <p:cNvPr id="6" name="step1-tagtext"/>
          <p:cNvSpPr txBox="1"/>
          <p:nvPr/>
        </p:nvSpPr>
        <p:spPr>
          <a:xfrm>
            <a:off x="685800" y="1709928"/>
            <a:ext cx="777240" cy="274320"/>
          </a:xfrm>
          <a:prstGeom prst="rect">
            <a:avLst/>
          </a:prstGeom>
          <a:noFill/>
          <a:ln/>
        </p:spPr>
        <p:txBody>
          <a:bodyPr wrap="square" lIns="0" tIns="0" rIns="0" bIns="0" rtlCol="0" anchor="ctr"/>
          <a:lstStyle/>
          <a:p>
            <a:pPr algn="ctr" indent="0" marL="0">
              <a:buNone/>
            </a:pPr>
            <a:r>
              <a:rPr lang="en-US" sz="1000" b="1" dirty="0">
                <a:solidFill>
                  <a:schemeClr val="bg1"/>
                </a:solidFill>
              </a:rPr>
              <a:t>CODE</a:t>
            </a:r>
            <a:endParaRPr lang="en-US" sz="1000" dirty="0"/>
          </a:p>
        </p:txBody>
      </p:sp>
      <p:sp>
        <p:nvSpPr>
          <p:cNvPr id="7" name="step1-title"/>
          <p:cNvSpPr txBox="1"/>
          <p:nvPr/>
        </p:nvSpPr>
        <p:spPr>
          <a:xfrm>
            <a:off x="685800" y="2103120"/>
            <a:ext cx="1695298" cy="347472"/>
          </a:xfrm>
          <a:prstGeom prst="rect">
            <a:avLst/>
          </a:prstGeom>
          <a:noFill/>
          <a:ln/>
        </p:spPr>
        <p:txBody>
          <a:bodyPr wrap="square" lIns="0" tIns="0" rIns="0" bIns="0" rtlCol="0" anchor="t"/>
          <a:lstStyle/>
          <a:p>
            <a:pPr indent="0" marL="0">
              <a:buNone/>
            </a:pPr>
            <a:r>
              <a:rPr lang="en-US" sz="1500" b="1" dirty="0">
                <a:solidFill>
                  <a:schemeClr val="tx1"/>
                </a:solidFill>
              </a:rPr>
              <a:t>1  Read the PDF</a:t>
            </a:r>
            <a:endParaRPr lang="en-US" sz="1500" dirty="0"/>
          </a:p>
        </p:txBody>
      </p:sp>
      <p:sp>
        <p:nvSpPr>
          <p:cNvPr id="8" name="step1-body"/>
          <p:cNvSpPr txBox="1"/>
          <p:nvPr/>
        </p:nvSpPr>
        <p:spPr>
          <a:xfrm>
            <a:off x="685800" y="2487168"/>
            <a:ext cx="1695298" cy="1143000"/>
          </a:xfrm>
          <a:prstGeom prst="rect">
            <a:avLst/>
          </a:prstGeom>
          <a:noFill/>
          <a:ln/>
        </p:spPr>
        <p:txBody>
          <a:bodyPr wrap="square" lIns="0" tIns="0" rIns="0" bIns="0" rtlCol="0" anchor="t"/>
          <a:lstStyle/>
          <a:p>
            <a:pPr indent="0" marL="0">
              <a:buNone/>
            </a:pPr>
            <a:r>
              <a:rPr lang="en-US" sz="1300" dirty="0">
                <a:solidFill>
                  <a:schemeClr val="tx2"/>
                </a:solidFill>
              </a:rPr>
              <a:t>Reads text, headings and tables (PyMuPDF) and cuts each chapter into sections, with page numbers.</a:t>
            </a:r>
            <a:endParaRPr lang="en-US" sz="1300" dirty="0"/>
          </a:p>
        </p:txBody>
      </p:sp>
      <p:sp>
        <p:nvSpPr>
          <p:cNvPr id="9" name="arrow1"/>
          <p:cNvSpPr/>
          <p:nvPr/>
        </p:nvSpPr>
        <p:spPr>
          <a:xfrm>
            <a:off x="2582266" y="2560320"/>
            <a:ext cx="182880" cy="182880"/>
          </a:xfrm>
          <a:prstGeom prst="rightArrow">
            <a:avLst/>
          </a:prstGeom>
          <a:solidFill>
            <a:schemeClr val="accent4"/>
          </a:solidFill>
          <a:ln w="12700">
            <a:solidFill>
              <a:schemeClr val="accent4"/>
            </a:solidFill>
            <a:prstDash val="solid"/>
          </a:ln>
        </p:spPr>
      </p:sp>
      <p:sp>
        <p:nvSpPr>
          <p:cNvPr id="10" name="step2-card"/>
          <p:cNvSpPr/>
          <p:nvPr/>
        </p:nvSpPr>
        <p:spPr>
          <a:xfrm>
            <a:off x="2829154" y="1554480"/>
            <a:ext cx="1969618" cy="2194560"/>
          </a:xfrm>
          <a:prstGeom prst="roundRect">
            <a:avLst>
              <a:gd name="adj" fmla="val 3714"/>
            </a:avLst>
          </a:prstGeom>
          <a:solidFill>
            <a:schemeClr val="bg2"/>
          </a:solidFill>
          <a:ln w="12700">
            <a:solidFill>
              <a:schemeClr val="bg2"/>
            </a:solidFill>
            <a:prstDash val="solid"/>
          </a:ln>
        </p:spPr>
      </p:sp>
      <p:sp>
        <p:nvSpPr>
          <p:cNvPr id="11" name="step2-tag"/>
          <p:cNvSpPr/>
          <p:nvPr/>
        </p:nvSpPr>
        <p:spPr>
          <a:xfrm>
            <a:off x="2966314" y="1709928"/>
            <a:ext cx="1051560" cy="274320"/>
          </a:xfrm>
          <a:prstGeom prst="roundRect">
            <a:avLst>
              <a:gd name="adj" fmla="val 50000"/>
            </a:avLst>
          </a:prstGeom>
          <a:solidFill>
            <a:schemeClr val="accent2"/>
          </a:solidFill>
          <a:ln w="12700">
            <a:solidFill>
              <a:schemeClr val="accent2"/>
            </a:solidFill>
            <a:prstDash val="solid"/>
          </a:ln>
        </p:spPr>
      </p:sp>
      <p:sp>
        <p:nvSpPr>
          <p:cNvPr id="12" name="step2-tagtext"/>
          <p:cNvSpPr txBox="1"/>
          <p:nvPr/>
        </p:nvSpPr>
        <p:spPr>
          <a:xfrm>
            <a:off x="2966314" y="1709928"/>
            <a:ext cx="1051560" cy="274320"/>
          </a:xfrm>
          <a:prstGeom prst="rect">
            <a:avLst/>
          </a:prstGeom>
          <a:noFill/>
          <a:ln/>
        </p:spPr>
        <p:txBody>
          <a:bodyPr wrap="square" lIns="0" tIns="0" rIns="0" bIns="0" rtlCol="0" anchor="ctr"/>
          <a:lstStyle/>
          <a:p>
            <a:pPr algn="ctr" indent="0" marL="0">
              <a:buNone/>
            </a:pPr>
            <a:r>
              <a:rPr lang="en-US" sz="1000" b="1" dirty="0">
                <a:solidFill>
                  <a:schemeClr val="bg1"/>
                </a:solidFill>
              </a:rPr>
              <a:t>AI + CODE</a:t>
            </a:r>
            <a:endParaRPr lang="en-US" sz="1000" dirty="0"/>
          </a:p>
        </p:txBody>
      </p:sp>
      <p:sp>
        <p:nvSpPr>
          <p:cNvPr id="13" name="step2-title"/>
          <p:cNvSpPr txBox="1"/>
          <p:nvPr/>
        </p:nvSpPr>
        <p:spPr>
          <a:xfrm>
            <a:off x="2966314" y="2103120"/>
            <a:ext cx="1695298" cy="347472"/>
          </a:xfrm>
          <a:prstGeom prst="rect">
            <a:avLst/>
          </a:prstGeom>
          <a:noFill/>
          <a:ln/>
        </p:spPr>
        <p:txBody>
          <a:bodyPr wrap="square" lIns="0" tIns="0" rIns="0" bIns="0" rtlCol="0" anchor="t"/>
          <a:lstStyle/>
          <a:p>
            <a:pPr indent="0" marL="0">
              <a:buNone/>
            </a:pPr>
            <a:r>
              <a:rPr lang="en-US" sz="1500" b="1" dirty="0">
                <a:solidFill>
                  <a:schemeClr val="tx1"/>
                </a:solidFill>
              </a:rPr>
              <a:t>2  Two readers</a:t>
            </a:r>
            <a:endParaRPr lang="en-US" sz="1500" dirty="0"/>
          </a:p>
        </p:txBody>
      </p:sp>
      <p:sp>
        <p:nvSpPr>
          <p:cNvPr id="14" name="step2-body"/>
          <p:cNvSpPr txBox="1"/>
          <p:nvPr/>
        </p:nvSpPr>
        <p:spPr>
          <a:xfrm>
            <a:off x="2966314" y="2487168"/>
            <a:ext cx="1695298" cy="1143000"/>
          </a:xfrm>
          <a:prstGeom prst="rect">
            <a:avLst/>
          </a:prstGeom>
          <a:noFill/>
          <a:ln/>
        </p:spPr>
        <p:txBody>
          <a:bodyPr wrap="square" lIns="0" tIns="0" rIns="0" bIns="0" rtlCol="0" anchor="t"/>
          <a:lstStyle/>
          <a:p>
            <a:pPr indent="0" marL="0">
              <a:buNone/>
            </a:pPr>
            <a:r>
              <a:rPr lang="en-US" sz="1300" dirty="0">
                <a:solidFill>
                  <a:schemeClr val="tx2"/>
                </a:solidFill>
              </a:rPr>
              <a:t>gpt-oss-120b proposes rules in a fixed format, quoting the exact sentence. Pattern rules (regex) read the same section on their own.</a:t>
            </a:r>
            <a:endParaRPr lang="en-US" sz="1300" dirty="0"/>
          </a:p>
        </p:txBody>
      </p:sp>
      <p:sp>
        <p:nvSpPr>
          <p:cNvPr id="15" name="arrow2"/>
          <p:cNvSpPr/>
          <p:nvPr/>
        </p:nvSpPr>
        <p:spPr>
          <a:xfrm>
            <a:off x="4862779" y="2560320"/>
            <a:ext cx="182880" cy="182880"/>
          </a:xfrm>
          <a:prstGeom prst="rightArrow">
            <a:avLst/>
          </a:prstGeom>
          <a:solidFill>
            <a:schemeClr val="accent4"/>
          </a:solidFill>
          <a:ln w="12700">
            <a:solidFill>
              <a:schemeClr val="accent4"/>
            </a:solidFill>
            <a:prstDash val="solid"/>
          </a:ln>
        </p:spPr>
      </p:sp>
      <p:sp>
        <p:nvSpPr>
          <p:cNvPr id="16" name="step3-card"/>
          <p:cNvSpPr/>
          <p:nvPr/>
        </p:nvSpPr>
        <p:spPr>
          <a:xfrm>
            <a:off x="5109667" y="1554480"/>
            <a:ext cx="1969618" cy="2194560"/>
          </a:xfrm>
          <a:prstGeom prst="roundRect">
            <a:avLst>
              <a:gd name="adj" fmla="val 3714"/>
            </a:avLst>
          </a:prstGeom>
          <a:solidFill>
            <a:schemeClr val="bg2"/>
          </a:solidFill>
          <a:ln w="12700">
            <a:solidFill>
              <a:schemeClr val="bg2"/>
            </a:solidFill>
            <a:prstDash val="solid"/>
          </a:ln>
        </p:spPr>
      </p:sp>
      <p:sp>
        <p:nvSpPr>
          <p:cNvPr id="17" name="step3-tag"/>
          <p:cNvSpPr/>
          <p:nvPr/>
        </p:nvSpPr>
        <p:spPr>
          <a:xfrm>
            <a:off x="5246827" y="1709928"/>
            <a:ext cx="777240" cy="274320"/>
          </a:xfrm>
          <a:prstGeom prst="roundRect">
            <a:avLst>
              <a:gd name="adj" fmla="val 50000"/>
            </a:avLst>
          </a:prstGeom>
          <a:solidFill>
            <a:schemeClr val="accent1"/>
          </a:solidFill>
          <a:ln w="12700">
            <a:solidFill>
              <a:schemeClr val="accent1"/>
            </a:solidFill>
            <a:prstDash val="solid"/>
          </a:ln>
        </p:spPr>
      </p:sp>
      <p:sp>
        <p:nvSpPr>
          <p:cNvPr id="18" name="step3-tagtext"/>
          <p:cNvSpPr txBox="1"/>
          <p:nvPr/>
        </p:nvSpPr>
        <p:spPr>
          <a:xfrm>
            <a:off x="5246827" y="1709928"/>
            <a:ext cx="777240" cy="274320"/>
          </a:xfrm>
          <a:prstGeom prst="rect">
            <a:avLst/>
          </a:prstGeom>
          <a:noFill/>
          <a:ln/>
        </p:spPr>
        <p:txBody>
          <a:bodyPr wrap="square" lIns="0" tIns="0" rIns="0" bIns="0" rtlCol="0" anchor="ctr"/>
          <a:lstStyle/>
          <a:p>
            <a:pPr algn="ctr" indent="0" marL="0">
              <a:buNone/>
            </a:pPr>
            <a:r>
              <a:rPr lang="en-US" sz="1000" b="1" dirty="0">
                <a:solidFill>
                  <a:schemeClr val="bg1"/>
                </a:solidFill>
              </a:rPr>
              <a:t>CODE</a:t>
            </a:r>
            <a:endParaRPr lang="en-US" sz="1000" dirty="0"/>
          </a:p>
        </p:txBody>
      </p:sp>
      <p:sp>
        <p:nvSpPr>
          <p:cNvPr id="19" name="step3-title"/>
          <p:cNvSpPr txBox="1"/>
          <p:nvPr/>
        </p:nvSpPr>
        <p:spPr>
          <a:xfrm>
            <a:off x="5246827" y="2103120"/>
            <a:ext cx="1695298" cy="347472"/>
          </a:xfrm>
          <a:prstGeom prst="rect">
            <a:avLst/>
          </a:prstGeom>
          <a:noFill/>
          <a:ln/>
        </p:spPr>
        <p:txBody>
          <a:bodyPr wrap="square" lIns="0" tIns="0" rIns="0" bIns="0" rtlCol="0" anchor="t"/>
          <a:lstStyle/>
          <a:p>
            <a:pPr indent="0" marL="0">
              <a:buNone/>
            </a:pPr>
            <a:r>
              <a:rPr lang="en-US" sz="1500" b="1" dirty="0">
                <a:solidFill>
                  <a:schemeClr val="tx1"/>
                </a:solidFill>
              </a:rPr>
              <a:t>3  Check the PDF</a:t>
            </a:r>
            <a:endParaRPr lang="en-US" sz="1500" dirty="0"/>
          </a:p>
        </p:txBody>
      </p:sp>
      <p:sp>
        <p:nvSpPr>
          <p:cNvPr id="20" name="step3-body"/>
          <p:cNvSpPr txBox="1"/>
          <p:nvPr/>
        </p:nvSpPr>
        <p:spPr>
          <a:xfrm>
            <a:off x="5246827" y="2487168"/>
            <a:ext cx="1695298" cy="1143000"/>
          </a:xfrm>
          <a:prstGeom prst="rect">
            <a:avLst/>
          </a:prstGeom>
          <a:noFill/>
          <a:ln/>
        </p:spPr>
        <p:txBody>
          <a:bodyPr wrap="square" lIns="0" tIns="0" rIns="0" bIns="0" rtlCol="0" anchor="t"/>
          <a:lstStyle/>
          <a:p>
            <a:pPr indent="0" marL="0">
              <a:buNone/>
            </a:pPr>
            <a:r>
              <a:rPr lang="en-US" sz="1300" dirty="0">
                <a:solidFill>
                  <a:schemeClr val="tx2"/>
                </a:solidFill>
              </a:rPr>
              <a:t>The quote must be in the PDF; every code and number must be in the source. If not, the rule is dropped or flagged.</a:t>
            </a:r>
            <a:endParaRPr lang="en-US" sz="1300" dirty="0"/>
          </a:p>
        </p:txBody>
      </p:sp>
      <p:sp>
        <p:nvSpPr>
          <p:cNvPr id="21" name="arrow3"/>
          <p:cNvSpPr/>
          <p:nvPr/>
        </p:nvSpPr>
        <p:spPr>
          <a:xfrm>
            <a:off x="7143293" y="2560320"/>
            <a:ext cx="182880" cy="182880"/>
          </a:xfrm>
          <a:prstGeom prst="rightArrow">
            <a:avLst/>
          </a:prstGeom>
          <a:solidFill>
            <a:schemeClr val="accent4"/>
          </a:solidFill>
          <a:ln w="12700">
            <a:solidFill>
              <a:schemeClr val="accent4"/>
            </a:solidFill>
            <a:prstDash val="solid"/>
          </a:ln>
        </p:spPr>
      </p:sp>
      <p:sp>
        <p:nvSpPr>
          <p:cNvPr id="22" name="step4-card"/>
          <p:cNvSpPr/>
          <p:nvPr/>
        </p:nvSpPr>
        <p:spPr>
          <a:xfrm>
            <a:off x="7390181" y="1554480"/>
            <a:ext cx="1969618" cy="2194560"/>
          </a:xfrm>
          <a:prstGeom prst="roundRect">
            <a:avLst>
              <a:gd name="adj" fmla="val 3714"/>
            </a:avLst>
          </a:prstGeom>
          <a:solidFill>
            <a:schemeClr val="bg2"/>
          </a:solidFill>
          <a:ln w="12700">
            <a:solidFill>
              <a:schemeClr val="bg2"/>
            </a:solidFill>
            <a:prstDash val="solid"/>
          </a:ln>
        </p:spPr>
      </p:sp>
      <p:sp>
        <p:nvSpPr>
          <p:cNvPr id="23" name="step4-tag"/>
          <p:cNvSpPr/>
          <p:nvPr/>
        </p:nvSpPr>
        <p:spPr>
          <a:xfrm>
            <a:off x="7527341" y="1709928"/>
            <a:ext cx="777240" cy="274320"/>
          </a:xfrm>
          <a:prstGeom prst="roundRect">
            <a:avLst>
              <a:gd name="adj" fmla="val 50000"/>
            </a:avLst>
          </a:prstGeom>
          <a:solidFill>
            <a:schemeClr val="accent1"/>
          </a:solidFill>
          <a:ln w="12700">
            <a:solidFill>
              <a:schemeClr val="accent1"/>
            </a:solidFill>
            <a:prstDash val="solid"/>
          </a:ln>
        </p:spPr>
      </p:sp>
      <p:sp>
        <p:nvSpPr>
          <p:cNvPr id="24" name="step4-tagtext"/>
          <p:cNvSpPr txBox="1"/>
          <p:nvPr/>
        </p:nvSpPr>
        <p:spPr>
          <a:xfrm>
            <a:off x="7527341" y="1709928"/>
            <a:ext cx="777240" cy="274320"/>
          </a:xfrm>
          <a:prstGeom prst="rect">
            <a:avLst/>
          </a:prstGeom>
          <a:noFill/>
          <a:ln/>
        </p:spPr>
        <p:txBody>
          <a:bodyPr wrap="square" lIns="0" tIns="0" rIns="0" bIns="0" rtlCol="0" anchor="ctr"/>
          <a:lstStyle/>
          <a:p>
            <a:pPr algn="ctr" indent="0" marL="0">
              <a:buNone/>
            </a:pPr>
            <a:r>
              <a:rPr lang="en-US" sz="1000" b="1" dirty="0">
                <a:solidFill>
                  <a:schemeClr val="bg1"/>
                </a:solidFill>
              </a:rPr>
              <a:t>CODE</a:t>
            </a:r>
            <a:endParaRPr lang="en-US" sz="1000" dirty="0"/>
          </a:p>
        </p:txBody>
      </p:sp>
      <p:sp>
        <p:nvSpPr>
          <p:cNvPr id="25" name="step4-title"/>
          <p:cNvSpPr txBox="1"/>
          <p:nvPr/>
        </p:nvSpPr>
        <p:spPr>
          <a:xfrm>
            <a:off x="7527341" y="2103120"/>
            <a:ext cx="1695298" cy="347472"/>
          </a:xfrm>
          <a:prstGeom prst="rect">
            <a:avLst/>
          </a:prstGeom>
          <a:noFill/>
          <a:ln/>
        </p:spPr>
        <p:txBody>
          <a:bodyPr wrap="square" lIns="0" tIns="0" rIns="0" bIns="0" rtlCol="0" anchor="t"/>
          <a:lstStyle/>
          <a:p>
            <a:pPr indent="0" marL="0">
              <a:buNone/>
            </a:pPr>
            <a:r>
              <a:rPr lang="en-US" sz="1500" b="1" dirty="0">
                <a:solidFill>
                  <a:schemeClr val="tx1"/>
                </a:solidFill>
              </a:rPr>
              <a:t>4  Meaning checks</a:t>
            </a:r>
            <a:endParaRPr lang="en-US" sz="1500" dirty="0"/>
          </a:p>
        </p:txBody>
      </p:sp>
      <p:sp>
        <p:nvSpPr>
          <p:cNvPr id="26" name="step4-body"/>
          <p:cNvSpPr txBox="1"/>
          <p:nvPr/>
        </p:nvSpPr>
        <p:spPr>
          <a:xfrm>
            <a:off x="7527341" y="2487168"/>
            <a:ext cx="1695298" cy="1143000"/>
          </a:xfrm>
          <a:prstGeom prst="rect">
            <a:avLst/>
          </a:prstGeom>
          <a:noFill/>
          <a:ln/>
        </p:spPr>
        <p:txBody>
          <a:bodyPr wrap="square" lIns="0" tIns="0" rIns="0" bIns="0" rtlCol="0" anchor="t"/>
          <a:lstStyle/>
          <a:p>
            <a:pPr indent="0" marL="0">
              <a:buNone/>
            </a:pPr>
            <a:r>
              <a:rPr lang="en-US" sz="1300" dirty="0">
                <a:solidFill>
                  <a:schemeClr val="tx2"/>
                </a:solidFill>
              </a:rPr>
              <a:t>Re-reads conditions, exceptions and combined limits in the sentence. Can only narrow a rule, never widen it.</a:t>
            </a:r>
            <a:endParaRPr lang="en-US" sz="1300" dirty="0"/>
          </a:p>
        </p:txBody>
      </p:sp>
      <p:sp>
        <p:nvSpPr>
          <p:cNvPr id="27" name="arrow4"/>
          <p:cNvSpPr/>
          <p:nvPr/>
        </p:nvSpPr>
        <p:spPr>
          <a:xfrm>
            <a:off x="9423806" y="2560320"/>
            <a:ext cx="182880" cy="182880"/>
          </a:xfrm>
          <a:prstGeom prst="rightArrow">
            <a:avLst/>
          </a:prstGeom>
          <a:solidFill>
            <a:schemeClr val="accent4"/>
          </a:solidFill>
          <a:ln w="12700">
            <a:solidFill>
              <a:schemeClr val="accent4"/>
            </a:solidFill>
            <a:prstDash val="solid"/>
          </a:ln>
        </p:spPr>
      </p:sp>
      <p:sp>
        <p:nvSpPr>
          <p:cNvPr id="28" name="step5-card"/>
          <p:cNvSpPr/>
          <p:nvPr/>
        </p:nvSpPr>
        <p:spPr>
          <a:xfrm>
            <a:off x="9670694" y="1554480"/>
            <a:ext cx="1969618" cy="2194560"/>
          </a:xfrm>
          <a:prstGeom prst="roundRect">
            <a:avLst>
              <a:gd name="adj" fmla="val 3714"/>
            </a:avLst>
          </a:prstGeom>
          <a:solidFill>
            <a:schemeClr val="bg2"/>
          </a:solidFill>
          <a:ln w="12700">
            <a:solidFill>
              <a:schemeClr val="bg2"/>
            </a:solidFill>
            <a:prstDash val="solid"/>
          </a:ln>
        </p:spPr>
      </p:sp>
      <p:sp>
        <p:nvSpPr>
          <p:cNvPr id="29" name="step5-tag"/>
          <p:cNvSpPr/>
          <p:nvPr/>
        </p:nvSpPr>
        <p:spPr>
          <a:xfrm>
            <a:off x="9807854" y="1709928"/>
            <a:ext cx="777240" cy="274320"/>
          </a:xfrm>
          <a:prstGeom prst="roundRect">
            <a:avLst>
              <a:gd name="adj" fmla="val 50000"/>
            </a:avLst>
          </a:prstGeom>
          <a:solidFill>
            <a:schemeClr val="accent3"/>
          </a:solidFill>
          <a:ln w="12700">
            <a:solidFill>
              <a:schemeClr val="accent3"/>
            </a:solidFill>
            <a:prstDash val="solid"/>
          </a:ln>
        </p:spPr>
      </p:sp>
      <p:sp>
        <p:nvSpPr>
          <p:cNvPr id="30" name="step5-tagtext"/>
          <p:cNvSpPr txBox="1"/>
          <p:nvPr/>
        </p:nvSpPr>
        <p:spPr>
          <a:xfrm>
            <a:off x="9807854" y="1709928"/>
            <a:ext cx="777240" cy="274320"/>
          </a:xfrm>
          <a:prstGeom prst="rect">
            <a:avLst/>
          </a:prstGeom>
          <a:noFill/>
          <a:ln/>
        </p:spPr>
        <p:txBody>
          <a:bodyPr wrap="square" lIns="0" tIns="0" rIns="0" bIns="0" rtlCol="0" anchor="ctr"/>
          <a:lstStyle/>
          <a:p>
            <a:pPr algn="ctr" indent="0" marL="0">
              <a:buNone/>
            </a:pPr>
            <a:r>
              <a:rPr lang="en-US" sz="1000" b="1" dirty="0">
                <a:solidFill>
                  <a:schemeClr val="bg1"/>
                </a:solidFill>
              </a:rPr>
              <a:t>PERSON</a:t>
            </a:r>
            <a:endParaRPr lang="en-US" sz="1000" dirty="0"/>
          </a:p>
        </p:txBody>
      </p:sp>
      <p:sp>
        <p:nvSpPr>
          <p:cNvPr id="31" name="step5-title"/>
          <p:cNvSpPr txBox="1"/>
          <p:nvPr/>
        </p:nvSpPr>
        <p:spPr>
          <a:xfrm>
            <a:off x="9807854" y="2103120"/>
            <a:ext cx="1695298" cy="347472"/>
          </a:xfrm>
          <a:prstGeom prst="rect">
            <a:avLst/>
          </a:prstGeom>
          <a:noFill/>
          <a:ln/>
        </p:spPr>
        <p:txBody>
          <a:bodyPr wrap="square" lIns="0" tIns="0" rIns="0" bIns="0" rtlCol="0" anchor="t"/>
          <a:lstStyle/>
          <a:p>
            <a:pPr indent="0" marL="0">
              <a:buNone/>
            </a:pPr>
            <a:r>
              <a:rPr lang="en-US" sz="1500" b="1" dirty="0">
                <a:solidFill>
                  <a:schemeClr val="tx1"/>
                </a:solidFill>
              </a:rPr>
              <a:t>5  Human review</a:t>
            </a:r>
            <a:endParaRPr lang="en-US" sz="1500" dirty="0"/>
          </a:p>
        </p:txBody>
      </p:sp>
      <p:sp>
        <p:nvSpPr>
          <p:cNvPr id="32" name="step5-body"/>
          <p:cNvSpPr txBox="1"/>
          <p:nvPr/>
        </p:nvSpPr>
        <p:spPr>
          <a:xfrm>
            <a:off x="9807854" y="2487168"/>
            <a:ext cx="1695298" cy="1143000"/>
          </a:xfrm>
          <a:prstGeom prst="rect">
            <a:avLst/>
          </a:prstGeom>
          <a:noFill/>
          <a:ln/>
        </p:spPr>
        <p:txBody>
          <a:bodyPr wrap="square" lIns="0" tIns="0" rIns="0" bIns="0" rtlCol="0" anchor="t"/>
          <a:lstStyle/>
          <a:p>
            <a:pPr indent="0" marL="0">
              <a:buNone/>
            </a:pPr>
            <a:r>
              <a:rPr lang="en-US" sz="1300" dirty="0">
                <a:solidFill>
                  <a:schemeClr val="tx2"/>
                </a:solidFill>
              </a:rPr>
              <a:t>A reviewer approves, fixes or rejects each rule, with the policy words, page and version side by side.</a:t>
            </a:r>
            <a:endParaRPr lang="en-US" sz="1300" dirty="0"/>
          </a:p>
        </p:txBody>
      </p:sp>
      <p:sp>
        <p:nvSpPr>
          <p:cNvPr id="33" name="output-card"/>
          <p:cNvSpPr/>
          <p:nvPr/>
        </p:nvSpPr>
        <p:spPr>
          <a:xfrm>
            <a:off x="548640" y="3977640"/>
            <a:ext cx="11091672" cy="566928"/>
          </a:xfrm>
          <a:prstGeom prst="roundRect">
            <a:avLst>
              <a:gd name="adj" fmla="val 12903"/>
            </a:avLst>
          </a:prstGeom>
          <a:solidFill>
            <a:schemeClr val="tx1"/>
          </a:solidFill>
          <a:ln w="12700">
            <a:solidFill>
              <a:schemeClr val="tx1"/>
            </a:solidFill>
            <a:prstDash val="solid"/>
          </a:ln>
        </p:spPr>
      </p:sp>
      <p:sp>
        <p:nvSpPr>
          <p:cNvPr id="34" name="output-text"/>
          <p:cNvSpPr txBox="1"/>
          <p:nvPr/>
        </p:nvSpPr>
        <p:spPr>
          <a:xfrm>
            <a:off x="777240" y="3977640"/>
            <a:ext cx="10698480" cy="566928"/>
          </a:xfrm>
          <a:prstGeom prst="rect">
            <a:avLst/>
          </a:prstGeom>
          <a:noFill/>
          <a:ln/>
        </p:spPr>
        <p:txBody>
          <a:bodyPr wrap="square" lIns="0" tIns="0" rIns="0" bIns="0" rtlCol="0" anchor="ctr"/>
          <a:lstStyle/>
          <a:p>
            <a:pPr indent="0" marL="0">
              <a:buNone/>
            </a:pPr>
            <a:r>
              <a:rPr lang="en-US" sz="1500" b="1" dirty="0">
                <a:solidFill>
                  <a:schemeClr val="accent5"/>
                </a:solidFill>
              </a:rPr>
              <a:t>Result: </a:t>
            </a:r>
            <a:pPr indent="0" marL="0">
              <a:buNone/>
            </a:pPr>
            <a:r>
              <a:rPr lang="en-US" sz="1500" dirty="0">
                <a:solidFill>
                  <a:schemeClr val="bg1"/>
                </a:solidFill>
              </a:rPr>
              <a:t>approved rules enter the knowledge base; checkable ones become tested SQL. Claims are checked with no AI.</a:t>
            </a:r>
            <a:endParaRPr lang="en-US" sz="1500" dirty="0"/>
          </a:p>
        </p:txBody>
      </p:sp>
      <p:sp>
        <p:nvSpPr>
          <p:cNvPr id="35" name="fact1-head"/>
          <p:cNvSpPr txBox="1"/>
          <p:nvPr/>
        </p:nvSpPr>
        <p:spPr>
          <a:xfrm>
            <a:off x="548640" y="4800600"/>
            <a:ext cx="3453384" cy="274320"/>
          </a:xfrm>
          <a:prstGeom prst="rect">
            <a:avLst/>
          </a:prstGeom>
          <a:noFill/>
          <a:ln/>
        </p:spPr>
        <p:txBody>
          <a:bodyPr wrap="square" lIns="0" tIns="0" rIns="0" bIns="0" rtlCol="0" anchor="ctr"/>
          <a:lstStyle/>
          <a:p>
            <a:pPr indent="0" marL="0">
              <a:buNone/>
            </a:pPr>
            <a:r>
              <a:rPr lang="en-US" sz="1300" b="1" dirty="0">
                <a:solidFill>
                  <a:schemeClr val="accent1"/>
                </a:solidFill>
              </a:rPr>
              <a:t>The model</a:t>
            </a:r>
            <a:endParaRPr lang="en-US" sz="1300" dirty="0"/>
          </a:p>
        </p:txBody>
      </p:sp>
      <p:sp>
        <p:nvSpPr>
          <p:cNvPr id="36" name="fact1-body"/>
          <p:cNvSpPr txBox="1"/>
          <p:nvPr/>
        </p:nvSpPr>
        <p:spPr>
          <a:xfrm>
            <a:off x="548640" y="5093208"/>
            <a:ext cx="3453384" cy="640080"/>
          </a:xfrm>
          <a:prstGeom prst="rect">
            <a:avLst/>
          </a:prstGeom>
          <a:noFill/>
          <a:ln/>
        </p:spPr>
        <p:txBody>
          <a:bodyPr wrap="square" lIns="0" tIns="0" rIns="0" bIns="0" rtlCol="0" anchor="t"/>
          <a:lstStyle/>
          <a:p>
            <a:pPr indent="0" marL="0">
              <a:buNone/>
            </a:pPr>
            <a:r>
              <a:rPr lang="en-US" sz="1300" dirty="0">
                <a:solidFill>
                  <a:schemeClr val="tx2"/>
                </a:solidFill>
              </a:rPr>
              <a:t>gpt-oss-120b (open-weight), run inside our Databricks workspace. Reasoning effort medium; deterministic output.</a:t>
            </a:r>
            <a:endParaRPr lang="en-US" sz="1300" dirty="0"/>
          </a:p>
        </p:txBody>
      </p:sp>
      <p:sp>
        <p:nvSpPr>
          <p:cNvPr id="37" name="fact2-head"/>
          <p:cNvSpPr txBox="1"/>
          <p:nvPr/>
        </p:nvSpPr>
        <p:spPr>
          <a:xfrm>
            <a:off x="4367784" y="4800600"/>
            <a:ext cx="3453384" cy="274320"/>
          </a:xfrm>
          <a:prstGeom prst="rect">
            <a:avLst/>
          </a:prstGeom>
          <a:noFill/>
          <a:ln/>
        </p:spPr>
        <p:txBody>
          <a:bodyPr wrap="square" lIns="0" tIns="0" rIns="0" bIns="0" rtlCol="0" anchor="ctr"/>
          <a:lstStyle/>
          <a:p>
            <a:pPr indent="0" marL="0">
              <a:buNone/>
            </a:pPr>
            <a:r>
              <a:rPr lang="en-US" sz="1300" b="1" dirty="0">
                <a:solidFill>
                  <a:schemeClr val="accent1"/>
                </a:solidFill>
              </a:rPr>
              <a:t>The instructions</a:t>
            </a:r>
            <a:endParaRPr lang="en-US" sz="1300" dirty="0"/>
          </a:p>
        </p:txBody>
      </p:sp>
      <p:sp>
        <p:nvSpPr>
          <p:cNvPr id="38" name="fact2-body"/>
          <p:cNvSpPr txBox="1"/>
          <p:nvPr/>
        </p:nvSpPr>
        <p:spPr>
          <a:xfrm>
            <a:off x="4367784" y="5093208"/>
            <a:ext cx="3453384" cy="640080"/>
          </a:xfrm>
          <a:prstGeom prst="rect">
            <a:avLst/>
          </a:prstGeom>
          <a:noFill/>
          <a:ln/>
        </p:spPr>
        <p:txBody>
          <a:bodyPr wrap="square" lIns="0" tIns="0" rIns="0" bIns="0" rtlCol="0" anchor="t"/>
          <a:lstStyle/>
          <a:p>
            <a:pPr indent="0" marL="0">
              <a:buNone/>
            </a:pPr>
            <a:r>
              <a:rPr lang="en-US" sz="1300" dirty="0">
                <a:solidFill>
                  <a:schemeClr val="tx2"/>
                </a:solidFill>
              </a:rPr>
              <a:t>Frozen, fingerprinted prompt: quote verbatim, never invent. 9 rule types; 5 become checks today.</a:t>
            </a:r>
            <a:endParaRPr lang="en-US" sz="1300" dirty="0"/>
          </a:p>
        </p:txBody>
      </p:sp>
      <p:sp>
        <p:nvSpPr>
          <p:cNvPr id="39" name="fact3-head"/>
          <p:cNvSpPr txBox="1"/>
          <p:nvPr/>
        </p:nvSpPr>
        <p:spPr>
          <a:xfrm>
            <a:off x="8186928" y="4800600"/>
            <a:ext cx="3453384" cy="274320"/>
          </a:xfrm>
          <a:prstGeom prst="rect">
            <a:avLst/>
          </a:prstGeom>
          <a:noFill/>
          <a:ln/>
        </p:spPr>
        <p:txBody>
          <a:bodyPr wrap="square" lIns="0" tIns="0" rIns="0" bIns="0" rtlCol="0" anchor="ctr"/>
          <a:lstStyle/>
          <a:p>
            <a:pPr indent="0" marL="0">
              <a:buNone/>
            </a:pPr>
            <a:r>
              <a:rPr lang="en-US" sz="1300" b="1" dirty="0">
                <a:solidFill>
                  <a:schemeClr val="accent1"/>
                </a:solidFill>
              </a:rPr>
              <a:t>Measured, not assumed</a:t>
            </a:r>
            <a:endParaRPr lang="en-US" sz="1300" dirty="0"/>
          </a:p>
        </p:txBody>
      </p:sp>
      <p:sp>
        <p:nvSpPr>
          <p:cNvPr id="40" name="fact3-body"/>
          <p:cNvSpPr txBox="1"/>
          <p:nvPr/>
        </p:nvSpPr>
        <p:spPr>
          <a:xfrm>
            <a:off x="8186928" y="5093208"/>
            <a:ext cx="3453384" cy="640080"/>
          </a:xfrm>
          <a:prstGeom prst="rect">
            <a:avLst/>
          </a:prstGeom>
          <a:noFill/>
          <a:ln/>
        </p:spPr>
        <p:txBody>
          <a:bodyPr wrap="square" lIns="0" tIns="0" rIns="0" bIns="0" rtlCol="0" anchor="t"/>
          <a:lstStyle/>
          <a:p>
            <a:pPr indent="0" marL="0">
              <a:buNone/>
            </a:pPr>
            <a:r>
              <a:rPr lang="en-US" sz="1300" dirty="0">
                <a:solidFill>
                  <a:schemeClr val="tx2"/>
                </a:solidFill>
              </a:rPr>
              <a:t>Chapter 19 test: found 74% of the signed rules. Every miss is traced to the step that lost it.</a:t>
            </a:r>
            <a:endParaRPr lang="en-US" sz="1300" dirty="0"/>
          </a:p>
        </p:txBody>
      </p:sp>
    </p:spTree>
  </p:cSld>
  <p:clrMapOvr>
    <a:masterClrMapping/>
  </p:clrMapOvr>
</p:sld>
</file>

<file path=ppt/theme/theme1.xml><?xml version="1.0" encoding="utf-8"?>
<a:theme xmlns:a="http://schemas.openxmlformats.org/drawingml/2006/main" name="PIE Appendix">
  <a:themeElements>
    <a:clrScheme name="PIE Appendix">
      <a:dk1>
        <a:srgbClr val="13243A"/>
      </a:dk1>
      <a:lt1>
        <a:srgbClr val="FFFFFF"/>
      </a:lt1>
      <a:dk2>
        <a:srgbClr val="3E4A57"/>
      </a:dk2>
      <a:lt2>
        <a:srgbClr val="EEF2F5"/>
      </a:lt2>
      <a:accent1>
        <a:srgbClr val="2A5D7C"/>
      </a:accent1>
      <a:accent2>
        <a:srgbClr val="B4501C"/>
      </a:accent2>
      <a:accent3>
        <a:srgbClr val="2F7A55"/>
      </a:accent3>
      <a:accent4>
        <a:srgbClr val="5F6873"/>
      </a:accent4>
      <a:accent5>
        <a:srgbClr val="E39A6F"/>
      </a:accent5>
      <a:accent6>
        <a:srgbClr val="B04A26"/>
      </a:accent6>
      <a:hlink>
        <a:srgbClr val="2A5D7C"/>
      </a:hlink>
      <a:folHlink>
        <a:srgbClr val="5F6873"/>
      </a:folHlink>
    </a:clrScheme>
    <a:fontScheme name="PIE Appendix">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AI reads the billing manual</dc:title>
  <dc:subject>PptxGenJS Presentation</dc:subject>
  <dc:creator>PptxGenJS</dc:creator>
  <cp:lastModifiedBy>PptxGenJS</cp:lastModifiedBy>
  <cp:revision>1</cp:revision>
  <dcterms:created xsi:type="dcterms:W3CDTF">2026-10-23T15:33:54Z</dcterms:created>
  <dcterms:modified xsi:type="dcterms:W3CDTF">2026-10-23T15:33:54Z</dcterms:modified>
</cp:coreProperties>
</file>